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7" r:id="rId2"/>
    <p:sldId id="276" r:id="rId3"/>
    <p:sldId id="311" r:id="rId4"/>
    <p:sldId id="310" r:id="rId5"/>
    <p:sldId id="309" r:id="rId6"/>
    <p:sldId id="288" r:id="rId7"/>
    <p:sldId id="313" r:id="rId8"/>
    <p:sldId id="279" r:id="rId9"/>
    <p:sldId id="282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B84759-232C-4E6A-8F3B-B863EA48FA22}">
          <p14:sldIdLst>
            <p14:sldId id="307"/>
            <p14:sldId id="276"/>
            <p14:sldId id="311"/>
            <p14:sldId id="310"/>
            <p14:sldId id="309"/>
            <p14:sldId id="288"/>
            <p14:sldId id="313"/>
          </p14:sldIdLst>
        </p14:section>
        <p14:section name="Annexure" id="{689E758C-5A01-4992-8025-3CA35699EC05}">
          <p14:sldIdLst>
            <p14:sldId id="279"/>
            <p14:sldId id="282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Punjabi" userId="f6fe4d80-b415-4e88-a2c9-338c869f22da" providerId="ADAL" clId="{C2EE217E-FDA1-423F-822A-F2B783DCB5C8}"/>
    <pc:docChg chg="custSel delSld modSld modSection">
      <pc:chgData name="Harsh Punjabi" userId="f6fe4d80-b415-4e88-a2c9-338c869f22da" providerId="ADAL" clId="{C2EE217E-FDA1-423F-822A-F2B783DCB5C8}" dt="2026-04-23T12:19:33.107" v="2" actId="478"/>
      <pc:docMkLst>
        <pc:docMk/>
      </pc:docMkLst>
      <pc:sldChg chg="delSp mod">
        <pc:chgData name="Harsh Punjabi" userId="f6fe4d80-b415-4e88-a2c9-338c869f22da" providerId="ADAL" clId="{C2EE217E-FDA1-423F-822A-F2B783DCB5C8}" dt="2026-04-23T12:19:33.107" v="2" actId="478"/>
        <pc:sldMkLst>
          <pc:docMk/>
          <pc:sldMk cId="2800063549" sldId="288"/>
        </pc:sldMkLst>
        <pc:grpChg chg="del">
          <ac:chgData name="Harsh Punjabi" userId="f6fe4d80-b415-4e88-a2c9-338c869f22da" providerId="ADAL" clId="{C2EE217E-FDA1-423F-822A-F2B783DCB5C8}" dt="2026-04-23T12:19:33.107" v="2" actId="478"/>
          <ac:grpSpMkLst>
            <pc:docMk/>
            <pc:sldMk cId="2800063549" sldId="288"/>
            <ac:grpSpMk id="10" creationId="{B634853F-B614-5FA1-8AE4-615E207F3113}"/>
          </ac:grpSpMkLst>
        </pc:grpChg>
      </pc:sldChg>
      <pc:sldChg chg="delSp mod">
        <pc:chgData name="Harsh Punjabi" userId="f6fe4d80-b415-4e88-a2c9-338c869f22da" providerId="ADAL" clId="{C2EE217E-FDA1-423F-822A-F2B783DCB5C8}" dt="2026-04-23T12:19:25.160" v="1" actId="478"/>
        <pc:sldMkLst>
          <pc:docMk/>
          <pc:sldMk cId="2939093792" sldId="310"/>
        </pc:sldMkLst>
        <pc:grpChg chg="del">
          <ac:chgData name="Harsh Punjabi" userId="f6fe4d80-b415-4e88-a2c9-338c869f22da" providerId="ADAL" clId="{C2EE217E-FDA1-423F-822A-F2B783DCB5C8}" dt="2026-04-23T12:19:25.160" v="1" actId="478"/>
          <ac:grpSpMkLst>
            <pc:docMk/>
            <pc:sldMk cId="2939093792" sldId="310"/>
            <ac:grpSpMk id="283" creationId="{F9A8C939-CC97-241E-BCEC-83BD7D4E5A17}"/>
          </ac:grpSpMkLst>
        </pc:grpChg>
      </pc:sldChg>
      <pc:sldChg chg="del">
        <pc:chgData name="Harsh Punjabi" userId="f6fe4d80-b415-4e88-a2c9-338c869f22da" providerId="ADAL" clId="{C2EE217E-FDA1-423F-822A-F2B783DCB5C8}" dt="2026-04-23T12:19:21.569" v="0" actId="47"/>
        <pc:sldMkLst>
          <pc:docMk/>
          <pc:sldMk cId="2268823175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F2D81-5D66-4226-A47D-1916A3D78AC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51408-1550-4DF2-9B59-E1AC10E26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9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74AEA605-E63C-6039-7904-37E4E4585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781e21cd4_2_51:notes">
            <a:extLst>
              <a:ext uri="{FF2B5EF4-FFF2-40B4-BE49-F238E27FC236}">
                <a16:creationId xmlns:a16="http://schemas.microsoft.com/office/drawing/2014/main" id="{CB7D53C9-EC37-7985-6240-4D00F2971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5781e21cd4_2_51:notes">
            <a:extLst>
              <a:ext uri="{FF2B5EF4-FFF2-40B4-BE49-F238E27FC236}">
                <a16:creationId xmlns:a16="http://schemas.microsoft.com/office/drawing/2014/main" id="{75287D49-0E44-D5E1-1975-2E61847C86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1499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8858-C943-846C-0233-E383B020B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1132C-6806-87AF-B66D-B441A2BB0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79022-B16E-4270-6E8B-556A837FA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5D784-F416-C886-ACFC-2F68AECD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F8F14-8B1A-4B4D-54CC-184AD1B3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0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4ADD-2932-BA7B-F5E8-51A65596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B505A-6266-B779-01AA-D2A01C864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FAD44-16B8-752B-CBF3-A574618A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7FED-42ED-08A1-3CC1-0ECF17D6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7CEFB-5B1D-2C4F-96C2-40533199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4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AED1-0249-2BF1-9DBF-A20E1EDA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6449D-E1E7-1A55-8BAF-38ABC3C19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F243-2883-185B-ABF3-3EDA28B5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FAB98-0BC4-7BFE-FE92-26FCBD77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CA3B4-EA73-D002-5E8C-6D98ECE9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5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22A7A-DA8C-BFFB-15B9-C341E9ED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C3F71-84C9-A9EB-C7BB-7E59DB9CA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1A1DD-CBB8-BF7A-A164-847DBACED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2C241-1FAC-5829-D94D-DA7F3D1E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11780-14BF-5409-D6DF-38A40D2E0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0A101-0B0C-5AA4-F4FC-16887DAF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8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1283-7B9B-135F-1E6D-485A22212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339C9-8FFE-F55C-5F92-2CEC51ED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BD86A-6089-1BD6-9955-3EC007F71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FDC4D-3854-B8E0-F607-FAF8FB7B7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B2DDF-D5BF-DC88-2876-0D31A3CB94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84FFB-22E1-54D3-9BD6-356B3583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6C5F4-1984-0E55-383B-15532D237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5A8C9-AEF2-F000-CCF2-F0FDAECF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5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436D-C9B8-CC22-A61A-6441861F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27561-43A7-1479-65EF-4B0C0D35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DCFE2-C986-E600-0E6D-A259A7EB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46176-5AB1-EF10-D0F5-EEABF0B2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8F2680-521E-A843-D46E-BC306517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68882-513F-1154-70C9-FD753E2F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CF45A-A929-C249-726B-19A18F1E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3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CF8A-2FDF-A350-5173-98241F47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F8071-69CC-76E6-D0CD-762F1C0D4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73B86-458C-7DFE-7FD0-774BBD44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22A50-C7E2-5504-1E1D-88EA53EA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257EC-3409-5059-7ED4-F67C72118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76CEA-BF6D-2A2B-CC0A-7C874DDA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3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738E-9DEE-B12E-5771-90C2F4C9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2D9001-305B-62D0-74F5-29A327CCC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DC32C-1E88-534B-9E41-0E728CCA9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A934E-C451-4A6D-BFFC-086E8F272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D0730-3F9F-02D3-0CDA-25DDE51A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00139-2296-6DA1-183B-516EE97E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26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854C8-59FE-0027-4562-B5732846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D27BC-4980-2535-C498-C32026DA0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DE0C1-DD0C-1FF9-DC19-A5C25024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79086-FE8B-CD4E-B82E-0AF1DD0E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2EC01-F90F-F07A-99E8-E5F642CA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75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70917-7E80-133D-2A54-7935A9A52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2FB0C-4452-2834-909E-EE298A544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DA500-DD13-9D00-B026-4890F26B8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06CA9-29DD-96D1-DEB3-D4F445E6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6E15B-E949-4136-696D-D922BA28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36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6453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9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E162E1-828E-C772-D842-96E8A5FB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F3912-C924-D64B-ACF5-63CCBA9E3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80440-47D7-47A2-2F14-AFBD43E50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28B03-A448-4C17-BB77-368DD459CB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4F198-4E3E-A720-E012-E907D6B61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EB733-A090-EA68-03B7-35948895A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813DE-7198-4D17-8DB9-A4E077437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9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A8AB2BB-1FD6-6983-DC3F-CBE70FEB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ty with many buildings and a body of water&#10;&#10;AI-generated content may be incorrect.">
            <a:extLst>
              <a:ext uri="{FF2B5EF4-FFF2-40B4-BE49-F238E27FC236}">
                <a16:creationId xmlns:a16="http://schemas.microsoft.com/office/drawing/2014/main" id="{6B61A62D-2B65-1B94-854A-2F87160BB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06" name="Google Shape;106;p32">
            <a:extLst>
              <a:ext uri="{FF2B5EF4-FFF2-40B4-BE49-F238E27FC236}">
                <a16:creationId xmlns:a16="http://schemas.microsoft.com/office/drawing/2014/main" id="{F8BFB4A3-07D2-438F-36FD-763CE9EC885C}"/>
              </a:ext>
            </a:extLst>
          </p:cNvPr>
          <p:cNvSpPr/>
          <p:nvPr/>
        </p:nvSpPr>
        <p:spPr>
          <a:xfrm>
            <a:off x="104" y="-1"/>
            <a:ext cx="12191896" cy="6858001"/>
          </a:xfrm>
          <a:prstGeom prst="rect">
            <a:avLst/>
          </a:prstGeom>
          <a:gradFill>
            <a:gsLst>
              <a:gs pos="0">
                <a:srgbClr val="061C28">
                  <a:alpha val="41960"/>
                </a:srgbClr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067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32">
            <a:extLst>
              <a:ext uri="{FF2B5EF4-FFF2-40B4-BE49-F238E27FC236}">
                <a16:creationId xmlns:a16="http://schemas.microsoft.com/office/drawing/2014/main" id="{88E9A0BC-FE52-E851-1C6C-37A2A9BC8440}"/>
              </a:ext>
            </a:extLst>
          </p:cNvPr>
          <p:cNvSpPr/>
          <p:nvPr/>
        </p:nvSpPr>
        <p:spPr>
          <a:xfrm>
            <a:off x="468288" y="4360986"/>
            <a:ext cx="10295506" cy="1494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5600" dirty="0">
                <a:solidFill>
                  <a:schemeClr val="lt1"/>
                </a:solidFill>
                <a:latin typeface="Aptos Display" panose="020B0004020202020204" pitchFamily="34" charset="0"/>
                <a:ea typeface="Poppins"/>
                <a:cs typeface="Poppins"/>
                <a:sym typeface="Poppins"/>
              </a:rPr>
              <a:t>Procure.AI</a:t>
            </a:r>
          </a:p>
        </p:txBody>
      </p:sp>
      <p:cxnSp>
        <p:nvCxnSpPr>
          <p:cNvPr id="109" name="Google Shape;109;p32">
            <a:extLst>
              <a:ext uri="{FF2B5EF4-FFF2-40B4-BE49-F238E27FC236}">
                <a16:creationId xmlns:a16="http://schemas.microsoft.com/office/drawing/2014/main" id="{FDE95E1E-4CA9-5CB6-6A7E-0209EC5432A2}"/>
              </a:ext>
            </a:extLst>
          </p:cNvPr>
          <p:cNvCxnSpPr/>
          <p:nvPr/>
        </p:nvCxnSpPr>
        <p:spPr>
          <a:xfrm>
            <a:off x="638629" y="5976350"/>
            <a:ext cx="5457371" cy="0"/>
          </a:xfrm>
          <a:prstGeom prst="straightConnector1">
            <a:avLst/>
          </a:prstGeom>
          <a:noFill/>
          <a:ln w="38100" cap="flat" cmpd="sng">
            <a:solidFill>
              <a:srgbClr val="A77F4B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DB56BFF-A49F-77EC-390D-5C669B85D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22" y="366079"/>
            <a:ext cx="1562557" cy="19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7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C9CE-8800-E473-857E-8B77280C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38A6EA-1F7E-5DF9-C9AA-31D1E3BDF5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3200" b="1" dirty="0">
                <a:solidFill>
                  <a:srgbClr val="1F1F1F"/>
                </a:solidFill>
                <a:latin typeface="Calibri" panose="020F0502020204030204"/>
              </a:rPr>
              <a:t>GP operations is driven on emails and platform fixes</a:t>
            </a: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CF7489C6-4085-D081-819E-EF486A1326F9}"/>
              </a:ext>
            </a:extLst>
          </p:cNvPr>
          <p:cNvSpPr txBox="1">
            <a:spLocks/>
          </p:cNvSpPr>
          <p:nvPr/>
        </p:nvSpPr>
        <p:spPr>
          <a:xfrm>
            <a:off x="233442" y="5969094"/>
            <a:ext cx="9503358" cy="440759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Oracle procurement module does not provide solutions for our sourcing needs where Agentic AI solutions are being evaluated.</a:t>
            </a:r>
            <a:endParaRPr lang="en-US" sz="1400" b="1" i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0" name="Flowchart: Manual Operation 219">
            <a:extLst>
              <a:ext uri="{FF2B5EF4-FFF2-40B4-BE49-F238E27FC236}">
                <a16:creationId xmlns:a16="http://schemas.microsoft.com/office/drawing/2014/main" id="{EED5AF67-FD2D-150D-8DE8-5BF157860631}"/>
              </a:ext>
            </a:extLst>
          </p:cNvPr>
          <p:cNvSpPr/>
          <p:nvPr/>
        </p:nvSpPr>
        <p:spPr>
          <a:xfrm rot="10800000">
            <a:off x="3124579" y="1800676"/>
            <a:ext cx="1262572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AutoShape 3">
            <a:extLst>
              <a:ext uri="{FF2B5EF4-FFF2-40B4-BE49-F238E27FC236}">
                <a16:creationId xmlns:a16="http://schemas.microsoft.com/office/drawing/2014/main" id="{0416828F-9D95-8372-109C-5ED8AAE9D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43" y="1588124"/>
            <a:ext cx="11419495" cy="457200"/>
          </a:xfrm>
          <a:prstGeom prst="rightArrow">
            <a:avLst/>
          </a:prstGeom>
          <a:solidFill>
            <a:sysClr val="window" lastClr="FFFFFF">
              <a:lumMod val="85000"/>
            </a:sysClr>
          </a:solidFill>
          <a:ln w="1270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tIns="68580" bIns="6858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76325" algn="ctr"/>
                <a:tab pos="2152650" algn="ctr"/>
                <a:tab pos="3228975" algn="ctr"/>
                <a:tab pos="4305300" algn="ctr"/>
                <a:tab pos="5381625" algn="r"/>
              </a:tabLst>
              <a:defRPr/>
            </a:pPr>
            <a:r>
              <a:rPr kumimoji="0" lang="en-US" altLang="ja-JP" sz="13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Open Sans" panose="020B0606030504020204" pitchFamily="34" charset="0"/>
              </a:rPr>
              <a:t>					</a:t>
            </a:r>
          </a:p>
        </p:txBody>
      </p:sp>
      <p:graphicFrame>
        <p:nvGraphicFramePr>
          <p:cNvPr id="222" name="Table 3">
            <a:extLst>
              <a:ext uri="{FF2B5EF4-FFF2-40B4-BE49-F238E27FC236}">
                <a16:creationId xmlns:a16="http://schemas.microsoft.com/office/drawing/2014/main" id="{DFDB0FFB-4A14-35C8-4632-F25A9EA695AE}"/>
              </a:ext>
            </a:extLst>
          </p:cNvPr>
          <p:cNvGraphicFramePr>
            <a:graphicFrameLocks noGrp="1"/>
          </p:cNvGraphicFramePr>
          <p:nvPr/>
        </p:nvGraphicFramePr>
        <p:xfrm>
          <a:off x="540655" y="2751148"/>
          <a:ext cx="1285151" cy="3034017"/>
        </p:xfrm>
        <a:graphic>
          <a:graphicData uri="http://schemas.openxmlformats.org/drawingml/2006/table">
            <a:tbl>
              <a:tblPr/>
              <a:tblGrid>
                <a:gridCol w="1285151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56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Develop </a:t>
                      </a: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Annual Procurement Plan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96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Categories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52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item / service Master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  <a:tr h="6117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kumimoji="0" lang="en-IN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Catalog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00653"/>
                  </a:ext>
                </a:extLst>
              </a:tr>
              <a:tr h="6117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Analyze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MIS &amp; Spends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952988"/>
                  </a:ext>
                </a:extLst>
              </a:tr>
            </a:tbl>
          </a:graphicData>
        </a:graphic>
      </p:graphicFrame>
      <p:graphicFrame>
        <p:nvGraphicFramePr>
          <p:cNvPr id="223" name="Table 3">
            <a:extLst>
              <a:ext uri="{FF2B5EF4-FFF2-40B4-BE49-F238E27FC236}">
                <a16:creationId xmlns:a16="http://schemas.microsoft.com/office/drawing/2014/main" id="{F0478304-2AB5-B48C-C921-6BBB3EC2F2A4}"/>
              </a:ext>
            </a:extLst>
          </p:cNvPr>
          <p:cNvGraphicFramePr>
            <a:graphicFrameLocks noGrp="1"/>
          </p:cNvGraphicFramePr>
          <p:nvPr/>
        </p:nvGraphicFramePr>
        <p:xfrm>
          <a:off x="1834742" y="2761643"/>
          <a:ext cx="1285150" cy="1791308"/>
        </p:xfrm>
        <a:graphic>
          <a:graphicData uri="http://schemas.openxmlformats.org/drawingml/2006/table">
            <a:tbl>
              <a:tblPr/>
              <a:tblGrid>
                <a:gridCol w="1285150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868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Register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Vendor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22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Assess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Performance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&amp; Risk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22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lang="en-IN" sz="110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Vendor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Relationships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</a:tbl>
          </a:graphicData>
        </a:graphic>
      </p:graphicFrame>
      <p:sp>
        <p:nvSpPr>
          <p:cNvPr id="224" name="Arrow: Chevron 223">
            <a:extLst>
              <a:ext uri="{FF2B5EF4-FFF2-40B4-BE49-F238E27FC236}">
                <a16:creationId xmlns:a16="http://schemas.microsoft.com/office/drawing/2014/main" id="{C5B5734E-D707-E716-8221-AEF3BFF67B1D}"/>
              </a:ext>
            </a:extLst>
          </p:cNvPr>
          <p:cNvSpPr/>
          <p:nvPr/>
        </p:nvSpPr>
        <p:spPr>
          <a:xfrm>
            <a:off x="532942" y="928710"/>
            <a:ext cx="5011243" cy="351602"/>
          </a:xfrm>
          <a:prstGeom prst="chevron">
            <a:avLst/>
          </a:prstGeom>
          <a:solidFill>
            <a:srgbClr val="CCB07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to Contract</a:t>
            </a: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Arrow: Chevron 224">
            <a:extLst>
              <a:ext uri="{FF2B5EF4-FFF2-40B4-BE49-F238E27FC236}">
                <a16:creationId xmlns:a16="http://schemas.microsoft.com/office/drawing/2014/main" id="{CAAF3D67-5A66-6C86-AF3C-8AD4FD4B5912}"/>
              </a:ext>
            </a:extLst>
          </p:cNvPr>
          <p:cNvSpPr/>
          <p:nvPr/>
        </p:nvSpPr>
        <p:spPr>
          <a:xfrm>
            <a:off x="5544185" y="921350"/>
            <a:ext cx="6408253" cy="351602"/>
          </a:xfrm>
          <a:prstGeom prst="chevron">
            <a:avLst/>
          </a:prstGeom>
          <a:solidFill>
            <a:srgbClr val="CCB07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Procure to Pay</a:t>
            </a: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26" name="Table 3">
            <a:extLst>
              <a:ext uri="{FF2B5EF4-FFF2-40B4-BE49-F238E27FC236}">
                <a16:creationId xmlns:a16="http://schemas.microsoft.com/office/drawing/2014/main" id="{E76C79D6-C022-3D3F-69E9-4F431D2BEB19}"/>
              </a:ext>
            </a:extLst>
          </p:cNvPr>
          <p:cNvGraphicFramePr>
            <a:graphicFrameLocks noGrp="1"/>
          </p:cNvGraphicFramePr>
          <p:nvPr/>
        </p:nvGraphicFramePr>
        <p:xfrm>
          <a:off x="9306560" y="2752799"/>
          <a:ext cx="1150814" cy="1201236"/>
        </p:xfrm>
        <a:graphic>
          <a:graphicData uri="http://schemas.openxmlformats.org/drawingml/2006/table">
            <a:tbl>
              <a:tblPr/>
              <a:tblGrid>
                <a:gridCol w="1150814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6006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and Validate Invoices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06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Record and Approve Invoice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</a:tbl>
          </a:graphicData>
        </a:graphic>
      </p:graphicFrame>
      <p:sp>
        <p:nvSpPr>
          <p:cNvPr id="227" name="Rectangle 226">
            <a:extLst>
              <a:ext uri="{FF2B5EF4-FFF2-40B4-BE49-F238E27FC236}">
                <a16:creationId xmlns:a16="http://schemas.microsoft.com/office/drawing/2014/main" id="{03656252-C1DE-95DE-3664-DD844CC7EDB3}"/>
              </a:ext>
            </a:extLst>
          </p:cNvPr>
          <p:cNvSpPr/>
          <p:nvPr/>
        </p:nvSpPr>
        <p:spPr>
          <a:xfrm rot="16200000">
            <a:off x="-1161453" y="4137330"/>
            <a:ext cx="3034016" cy="281105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rgbClr val="E4F5F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L3 Processes (29)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771C6961-772A-FB65-6094-EE926B571B90}"/>
              </a:ext>
            </a:extLst>
          </p:cNvPr>
          <p:cNvSpPr/>
          <p:nvPr/>
        </p:nvSpPr>
        <p:spPr>
          <a:xfrm rot="16200000">
            <a:off x="-341645" y="1913397"/>
            <a:ext cx="1394398" cy="281106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rgbClr val="E4F5F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Processes (9)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Flowchart: Manual Operation 228">
            <a:extLst>
              <a:ext uri="{FF2B5EF4-FFF2-40B4-BE49-F238E27FC236}">
                <a16:creationId xmlns:a16="http://schemas.microsoft.com/office/drawing/2014/main" id="{B1E28EE8-7E02-B26D-77FF-8D050B4FF03C}"/>
              </a:ext>
            </a:extLst>
          </p:cNvPr>
          <p:cNvSpPr/>
          <p:nvPr/>
        </p:nvSpPr>
        <p:spPr>
          <a:xfrm rot="10800000">
            <a:off x="545768" y="1792408"/>
            <a:ext cx="1277227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68303476-C62E-8FF2-5DE1-01AEEFE560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7886" y="1386544"/>
            <a:ext cx="1086495" cy="968016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Develop Sourcing Strategy &amp; Planning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1" name="Flowchart: Manual Operation 230">
            <a:extLst>
              <a:ext uri="{FF2B5EF4-FFF2-40B4-BE49-F238E27FC236}">
                <a16:creationId xmlns:a16="http://schemas.microsoft.com/office/drawing/2014/main" id="{5FFBC4CD-4C57-8FCC-84F4-1E18650BD6A5}"/>
              </a:ext>
            </a:extLst>
          </p:cNvPr>
          <p:cNvSpPr/>
          <p:nvPr/>
        </p:nvSpPr>
        <p:spPr>
          <a:xfrm rot="10800000">
            <a:off x="4400796" y="1793827"/>
            <a:ext cx="1143389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7B9327B1-0057-C520-9D6B-0D4A2BD1F3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3215" y="1367632"/>
            <a:ext cx="982224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Contracts</a:t>
            </a:r>
          </a:p>
        </p:txBody>
      </p:sp>
      <p:sp>
        <p:nvSpPr>
          <p:cNvPr id="233" name="Flowchart: Manual Operation 232">
            <a:extLst>
              <a:ext uri="{FF2B5EF4-FFF2-40B4-BE49-F238E27FC236}">
                <a16:creationId xmlns:a16="http://schemas.microsoft.com/office/drawing/2014/main" id="{7A9ACB67-5A35-518C-DB9F-262719E23265}"/>
              </a:ext>
            </a:extLst>
          </p:cNvPr>
          <p:cNvSpPr/>
          <p:nvPr/>
        </p:nvSpPr>
        <p:spPr>
          <a:xfrm rot="10800000">
            <a:off x="1849760" y="1790589"/>
            <a:ext cx="1249451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03BA5809-2AE0-3C62-5C76-AA883E5567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1964" y="1367632"/>
            <a:ext cx="1005840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Vendors</a:t>
            </a:r>
          </a:p>
        </p:txBody>
      </p:sp>
      <p:sp>
        <p:nvSpPr>
          <p:cNvPr id="235" name="Flowchart: Manual Operation 234">
            <a:extLst>
              <a:ext uri="{FF2B5EF4-FFF2-40B4-BE49-F238E27FC236}">
                <a16:creationId xmlns:a16="http://schemas.microsoft.com/office/drawing/2014/main" id="{518B6008-BC8A-CADE-0ED5-DC82B7A55F22}"/>
              </a:ext>
            </a:extLst>
          </p:cNvPr>
          <p:cNvSpPr/>
          <p:nvPr/>
        </p:nvSpPr>
        <p:spPr>
          <a:xfrm rot="10800000">
            <a:off x="5575328" y="1793827"/>
            <a:ext cx="1239991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744D9983-BDC5-404A-44A6-2338C31DEE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6149" y="1367632"/>
            <a:ext cx="1214983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Requisitions and Orders</a:t>
            </a:r>
          </a:p>
        </p:txBody>
      </p:sp>
      <p:sp>
        <p:nvSpPr>
          <p:cNvPr id="237" name="Flowchart: Manual Operation 236">
            <a:extLst>
              <a:ext uri="{FF2B5EF4-FFF2-40B4-BE49-F238E27FC236}">
                <a16:creationId xmlns:a16="http://schemas.microsoft.com/office/drawing/2014/main" id="{8983811B-999B-B266-AEAF-462C2D5B9CDB}"/>
              </a:ext>
            </a:extLst>
          </p:cNvPr>
          <p:cNvSpPr/>
          <p:nvPr/>
        </p:nvSpPr>
        <p:spPr>
          <a:xfrm rot="10800000">
            <a:off x="6877007" y="1787345"/>
            <a:ext cx="1181182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4EB592DF-A72C-FE40-FEAC-1D136BA024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8589" y="1367632"/>
            <a:ext cx="1042516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Receipts &amp; Returns</a:t>
            </a:r>
          </a:p>
        </p:txBody>
      </p:sp>
      <p:sp>
        <p:nvSpPr>
          <p:cNvPr id="239" name="Flowchart: Manual Operation 238">
            <a:extLst>
              <a:ext uri="{FF2B5EF4-FFF2-40B4-BE49-F238E27FC236}">
                <a16:creationId xmlns:a16="http://schemas.microsoft.com/office/drawing/2014/main" id="{06A2C0BD-B8AE-411E-798E-953BDA32E862}"/>
              </a:ext>
            </a:extLst>
          </p:cNvPr>
          <p:cNvSpPr/>
          <p:nvPr/>
        </p:nvSpPr>
        <p:spPr>
          <a:xfrm rot="10800000">
            <a:off x="9326878" y="1787345"/>
            <a:ext cx="1130496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49E3671C-2B5A-BAC4-70B5-6B77006920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67489" y="1367632"/>
            <a:ext cx="1091711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Accounts Payable</a:t>
            </a:r>
          </a:p>
        </p:txBody>
      </p:sp>
      <p:sp>
        <p:nvSpPr>
          <p:cNvPr id="241" name="Flowchart: Manual Operation 240">
            <a:extLst>
              <a:ext uri="{FF2B5EF4-FFF2-40B4-BE49-F238E27FC236}">
                <a16:creationId xmlns:a16="http://schemas.microsoft.com/office/drawing/2014/main" id="{7FB1467F-9FD0-334A-F7E8-A9FB996928F2}"/>
              </a:ext>
            </a:extLst>
          </p:cNvPr>
          <p:cNvSpPr/>
          <p:nvPr/>
        </p:nvSpPr>
        <p:spPr>
          <a:xfrm rot="10800000">
            <a:off x="10470788" y="1793832"/>
            <a:ext cx="1150814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0BD78378-FCF3-28D9-5007-9CEDDA1877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38984" y="1367632"/>
            <a:ext cx="1042516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Process Vendor Payments</a:t>
            </a:r>
          </a:p>
        </p:txBody>
      </p:sp>
      <p:graphicFrame>
        <p:nvGraphicFramePr>
          <p:cNvPr id="243" name="Table 3">
            <a:extLst>
              <a:ext uri="{FF2B5EF4-FFF2-40B4-BE49-F238E27FC236}">
                <a16:creationId xmlns:a16="http://schemas.microsoft.com/office/drawing/2014/main" id="{21019E56-BFD2-929F-3BDA-A7942AFD1DE7}"/>
              </a:ext>
            </a:extLst>
          </p:cNvPr>
          <p:cNvGraphicFramePr>
            <a:graphicFrameLocks noGrp="1"/>
          </p:cNvGraphicFramePr>
          <p:nvPr/>
        </p:nvGraphicFramePr>
        <p:xfrm>
          <a:off x="3116781" y="2755840"/>
          <a:ext cx="1285150" cy="1799661"/>
        </p:xfrm>
        <a:graphic>
          <a:graphicData uri="http://schemas.openxmlformats.org/drawingml/2006/table">
            <a:tbl>
              <a:tblPr/>
              <a:tblGrid>
                <a:gridCol w="1285150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08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Conduct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Market Analysis &amp; Identify Vendor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48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Conduct E-Bidding/ Float Request for Quotes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04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Conduct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Vendor Evaluation and Selection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</a:tbl>
          </a:graphicData>
        </a:graphic>
      </p:graphicFrame>
      <p:sp>
        <p:nvSpPr>
          <p:cNvPr id="244" name="Oval 243">
            <a:extLst>
              <a:ext uri="{FF2B5EF4-FFF2-40B4-BE49-F238E27FC236}">
                <a16:creationId xmlns:a16="http://schemas.microsoft.com/office/drawing/2014/main" id="{85FA0348-2A33-ED66-9E10-BCB49DE607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1433" y="1386543"/>
            <a:ext cx="1086495" cy="968016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Initiate Sourcing</a:t>
            </a:r>
          </a:p>
        </p:txBody>
      </p:sp>
      <p:graphicFrame>
        <p:nvGraphicFramePr>
          <p:cNvPr id="245" name="Table 3">
            <a:extLst>
              <a:ext uri="{FF2B5EF4-FFF2-40B4-BE49-F238E27FC236}">
                <a16:creationId xmlns:a16="http://schemas.microsoft.com/office/drawing/2014/main" id="{7BDED1C5-2C99-6862-B526-5CB4DE5DB8DD}"/>
              </a:ext>
            </a:extLst>
          </p:cNvPr>
          <p:cNvGraphicFramePr>
            <a:graphicFrameLocks noGrp="1"/>
          </p:cNvGraphicFramePr>
          <p:nvPr/>
        </p:nvGraphicFramePr>
        <p:xfrm>
          <a:off x="4402255" y="2755838"/>
          <a:ext cx="1143390" cy="1809292"/>
        </p:xfrm>
        <a:graphic>
          <a:graphicData uri="http://schemas.openxmlformats.org/drawingml/2006/table">
            <a:tbl>
              <a:tblPr/>
              <a:tblGrid>
                <a:gridCol w="1143390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3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Prepare contract structure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77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and Administer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Contract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77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Close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Contract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513429"/>
                  </a:ext>
                </a:extLst>
              </a:tr>
            </a:tbl>
          </a:graphicData>
        </a:graphic>
      </p:graphicFrame>
      <p:graphicFrame>
        <p:nvGraphicFramePr>
          <p:cNvPr id="246" name="Table 3">
            <a:extLst>
              <a:ext uri="{FF2B5EF4-FFF2-40B4-BE49-F238E27FC236}">
                <a16:creationId xmlns:a16="http://schemas.microsoft.com/office/drawing/2014/main" id="{6FDD8B10-27E1-FCDA-E8A5-463853A68BE6}"/>
              </a:ext>
            </a:extLst>
          </p:cNvPr>
          <p:cNvGraphicFramePr>
            <a:graphicFrameLocks noGrp="1"/>
          </p:cNvGraphicFramePr>
          <p:nvPr/>
        </p:nvGraphicFramePr>
        <p:xfrm>
          <a:off x="5552099" y="2760875"/>
          <a:ext cx="1286064" cy="3019397"/>
        </p:xfrm>
        <a:graphic>
          <a:graphicData uri="http://schemas.openxmlformats.org/drawingml/2006/table">
            <a:tbl>
              <a:tblPr/>
              <a:tblGrid>
                <a:gridCol w="1286064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10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&amp; approve Requisition (PR)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70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&amp; Issue Purchase Order (PO)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00653"/>
                  </a:ext>
                </a:extLst>
              </a:tr>
              <a:tr h="6070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Purchase Order Changes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952988"/>
                  </a:ext>
                </a:extLst>
              </a:tr>
              <a:tr h="6070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Short-Close Purchase Order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023327"/>
                  </a:ext>
                </a:extLst>
              </a:tr>
              <a:tr h="6070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Administer 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Petty Cash Purchases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494897"/>
                  </a:ext>
                </a:extLst>
              </a:tr>
            </a:tbl>
          </a:graphicData>
        </a:graphic>
      </p:graphicFrame>
      <p:graphicFrame>
        <p:nvGraphicFramePr>
          <p:cNvPr id="247" name="Table 3">
            <a:extLst>
              <a:ext uri="{FF2B5EF4-FFF2-40B4-BE49-F238E27FC236}">
                <a16:creationId xmlns:a16="http://schemas.microsoft.com/office/drawing/2014/main" id="{90876520-37C7-85CF-02FA-FF2A8F23857E}"/>
              </a:ext>
            </a:extLst>
          </p:cNvPr>
          <p:cNvGraphicFramePr>
            <a:graphicFrameLocks noGrp="1"/>
          </p:cNvGraphicFramePr>
          <p:nvPr/>
        </p:nvGraphicFramePr>
        <p:xfrm>
          <a:off x="6854534" y="2760876"/>
          <a:ext cx="1203656" cy="1799853"/>
        </p:xfrm>
        <a:graphic>
          <a:graphicData uri="http://schemas.openxmlformats.org/drawingml/2006/table">
            <a:tbl>
              <a:tblPr/>
              <a:tblGrid>
                <a:gridCol w="1203656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20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Receipt and Issue Material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60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lang="en-IN" sz="1100" dirty="0">
                          <a:solidFill>
                            <a:srgbClr val="323232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Item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Returns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1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lang="en-IN" sz="1100" dirty="0">
                          <a:solidFill>
                            <a:srgbClr val="323232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Inventory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</a:tbl>
          </a:graphicData>
        </a:graphic>
      </p:graphicFrame>
      <p:graphicFrame>
        <p:nvGraphicFramePr>
          <p:cNvPr id="248" name="Table 3">
            <a:extLst>
              <a:ext uri="{FF2B5EF4-FFF2-40B4-BE49-F238E27FC236}">
                <a16:creationId xmlns:a16="http://schemas.microsoft.com/office/drawing/2014/main" id="{661CDAB5-C4CB-3EE6-AF51-B1BAC5C80157}"/>
              </a:ext>
            </a:extLst>
          </p:cNvPr>
          <p:cNvGraphicFramePr>
            <a:graphicFrameLocks noGrp="1"/>
          </p:cNvGraphicFramePr>
          <p:nvPr/>
        </p:nvGraphicFramePr>
        <p:xfrm>
          <a:off x="10473338" y="2749555"/>
          <a:ext cx="1157319" cy="1201236"/>
        </p:xfrm>
        <a:graphic>
          <a:graphicData uri="http://schemas.openxmlformats.org/drawingml/2006/table">
            <a:tbl>
              <a:tblPr/>
              <a:tblGrid>
                <a:gridCol w="1157319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6006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Prepare and Approve Vendor Payments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06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Release and Confirm Vendor Payments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</a:tbl>
          </a:graphicData>
        </a:graphic>
      </p:graphicFrame>
      <p:graphicFrame>
        <p:nvGraphicFramePr>
          <p:cNvPr id="249" name="Table 3">
            <a:extLst>
              <a:ext uri="{FF2B5EF4-FFF2-40B4-BE49-F238E27FC236}">
                <a16:creationId xmlns:a16="http://schemas.microsoft.com/office/drawing/2014/main" id="{D38287C0-37B4-75B8-76D1-515F6F34FD18}"/>
              </a:ext>
            </a:extLst>
          </p:cNvPr>
          <p:cNvGraphicFramePr>
            <a:graphicFrameLocks noGrp="1"/>
          </p:cNvGraphicFramePr>
          <p:nvPr/>
        </p:nvGraphicFramePr>
        <p:xfrm>
          <a:off x="8070592" y="2760875"/>
          <a:ext cx="1236133" cy="1799853"/>
        </p:xfrm>
        <a:graphic>
          <a:graphicData uri="http://schemas.openxmlformats.org/drawingml/2006/table">
            <a:tbl>
              <a:tblPr/>
              <a:tblGrid>
                <a:gridCol w="1236133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20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Track and Maintain </a:t>
                      </a:r>
                      <a:r>
                        <a:rPr lang="en-GB" sz="1100" dirty="0">
                          <a:latin typeface="Aptos" panose="020B0004020202020204" pitchFamily="34" charset="0"/>
                        </a:rPr>
                        <a:t>Assets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60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Transfer Assets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1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lang="en-GB" sz="1100" dirty="0">
                          <a:latin typeface="Aptos" panose="020B0004020202020204" pitchFamily="34" charset="0"/>
                        </a:rPr>
                        <a:t>Asset Disposal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</a:tbl>
          </a:graphicData>
        </a:graphic>
      </p:graphicFrame>
      <p:sp>
        <p:nvSpPr>
          <p:cNvPr id="250" name="Flowchart: Manual Operation 249">
            <a:extLst>
              <a:ext uri="{FF2B5EF4-FFF2-40B4-BE49-F238E27FC236}">
                <a16:creationId xmlns:a16="http://schemas.microsoft.com/office/drawing/2014/main" id="{334D9C10-B12B-A105-CD1A-CC8597EE8ABC}"/>
              </a:ext>
            </a:extLst>
          </p:cNvPr>
          <p:cNvSpPr/>
          <p:nvPr/>
        </p:nvSpPr>
        <p:spPr>
          <a:xfrm rot="10800000">
            <a:off x="8087174" y="1787344"/>
            <a:ext cx="1199602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CCA84E0E-FA3C-0A29-CE06-CF8A4E541B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28360" y="1367632"/>
            <a:ext cx="1091711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Assets</a:t>
            </a:r>
          </a:p>
        </p:txBody>
      </p:sp>
      <p:pic>
        <p:nvPicPr>
          <p:cNvPr id="252" name="Picture 251">
            <a:extLst>
              <a:ext uri="{FF2B5EF4-FFF2-40B4-BE49-F238E27FC236}">
                <a16:creationId xmlns:a16="http://schemas.microsoft.com/office/drawing/2014/main" id="{F2D977B2-985A-9FBC-A3DB-41C1E7A3F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13" y="3119684"/>
            <a:ext cx="202322" cy="208849"/>
          </a:xfrm>
          <a:prstGeom prst="rect">
            <a:avLst/>
          </a:prstGeom>
          <a:noFill/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28FDEC77-601D-9481-787D-CD642A01A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114" y="3141324"/>
            <a:ext cx="202322" cy="208849"/>
          </a:xfrm>
          <a:prstGeom prst="rect">
            <a:avLst/>
          </a:prstGeom>
          <a:noFill/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09432908-15E7-6CAF-EBA6-BEE96EEA8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796" y="3730622"/>
            <a:ext cx="202322" cy="208849"/>
          </a:xfrm>
          <a:prstGeom prst="rect">
            <a:avLst/>
          </a:prstGeom>
          <a:noFill/>
        </p:spPr>
      </p:pic>
      <p:pic>
        <p:nvPicPr>
          <p:cNvPr id="255" name="Picture 254">
            <a:extLst>
              <a:ext uri="{FF2B5EF4-FFF2-40B4-BE49-F238E27FC236}">
                <a16:creationId xmlns:a16="http://schemas.microsoft.com/office/drawing/2014/main" id="{AF7B4AAA-2B10-8E92-A9E3-4586EBE9E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114" y="4948130"/>
            <a:ext cx="202322" cy="208849"/>
          </a:xfrm>
          <a:prstGeom prst="rect">
            <a:avLst/>
          </a:prstGeom>
          <a:noFill/>
        </p:spPr>
      </p:pic>
      <p:pic>
        <p:nvPicPr>
          <p:cNvPr id="256" name="Picture 255">
            <a:extLst>
              <a:ext uri="{FF2B5EF4-FFF2-40B4-BE49-F238E27FC236}">
                <a16:creationId xmlns:a16="http://schemas.microsoft.com/office/drawing/2014/main" id="{FAD4E521-B40C-142A-C7C0-663CA354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15" y="6414364"/>
            <a:ext cx="202322" cy="208849"/>
          </a:xfrm>
          <a:prstGeom prst="rect">
            <a:avLst/>
          </a:prstGeom>
          <a:noFill/>
        </p:spPr>
      </p:pic>
      <p:sp>
        <p:nvSpPr>
          <p:cNvPr id="257" name="TextBox 256">
            <a:extLst>
              <a:ext uri="{FF2B5EF4-FFF2-40B4-BE49-F238E27FC236}">
                <a16:creationId xmlns:a16="http://schemas.microsoft.com/office/drawing/2014/main" id="{1BC839C7-AD6C-E7CD-BD34-A2229DF03FE9}"/>
              </a:ext>
            </a:extLst>
          </p:cNvPr>
          <p:cNvSpPr txBox="1"/>
          <p:nvPr/>
        </p:nvSpPr>
        <p:spPr>
          <a:xfrm>
            <a:off x="937837" y="6385180"/>
            <a:ext cx="1014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Oracle fusion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DB6A4EA8-0F0A-2112-0581-93902173A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952" y="3141324"/>
            <a:ext cx="202322" cy="208849"/>
          </a:xfrm>
          <a:prstGeom prst="rect">
            <a:avLst/>
          </a:prstGeom>
          <a:noFill/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F6F623B1-4163-6943-F16E-57073EC1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776" y="3741942"/>
            <a:ext cx="202322" cy="208849"/>
          </a:xfrm>
          <a:prstGeom prst="rect">
            <a:avLst/>
          </a:prstGeom>
          <a:noFill/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E03A21BE-3E7E-0E00-ED35-B8DD49156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349" y="3141323"/>
            <a:ext cx="202322" cy="208849"/>
          </a:xfrm>
          <a:prstGeom prst="rect">
            <a:avLst/>
          </a:prstGeom>
          <a:noFill/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D8DDB94F-F49E-BA08-C74D-9B0FE069F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79" y="3141322"/>
            <a:ext cx="202322" cy="208849"/>
          </a:xfrm>
          <a:prstGeom prst="rect">
            <a:avLst/>
          </a:prstGeom>
          <a:noFill/>
        </p:spPr>
      </p:pic>
      <p:sp>
        <p:nvSpPr>
          <p:cNvPr id="263" name="TextBox 262">
            <a:extLst>
              <a:ext uri="{FF2B5EF4-FFF2-40B4-BE49-F238E27FC236}">
                <a16:creationId xmlns:a16="http://schemas.microsoft.com/office/drawing/2014/main" id="{66F6DE9B-F6EC-9FB1-E7C0-045928D864AB}"/>
              </a:ext>
            </a:extLst>
          </p:cNvPr>
          <p:cNvSpPr txBox="1"/>
          <p:nvPr/>
        </p:nvSpPr>
        <p:spPr>
          <a:xfrm>
            <a:off x="2196608" y="6393449"/>
            <a:ext cx="199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Email/Spreadsheet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Graphic 3" descr="Envelope with solid fill">
            <a:extLst>
              <a:ext uri="{FF2B5EF4-FFF2-40B4-BE49-F238E27FC236}">
                <a16:creationId xmlns:a16="http://schemas.microsoft.com/office/drawing/2014/main" id="{97118A04-24B3-C1E2-6286-82D8DD86E5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6383" y="6414364"/>
            <a:ext cx="260224" cy="260224"/>
          </a:xfrm>
          <a:prstGeom prst="rect">
            <a:avLst/>
          </a:prstGeom>
        </p:spPr>
      </p:pic>
      <p:pic>
        <p:nvPicPr>
          <p:cNvPr id="5" name="Graphic 4" descr="Envelope with solid fill">
            <a:extLst>
              <a:ext uri="{FF2B5EF4-FFF2-40B4-BE49-F238E27FC236}">
                <a16:creationId xmlns:a16="http://schemas.microsoft.com/office/drawing/2014/main" id="{5C2BD68E-25EE-537C-1387-45E9DD096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0949" y="4311658"/>
            <a:ext cx="260224" cy="260224"/>
          </a:xfrm>
          <a:prstGeom prst="rect">
            <a:avLst/>
          </a:prstGeom>
        </p:spPr>
      </p:pic>
      <p:pic>
        <p:nvPicPr>
          <p:cNvPr id="6" name="Graphic 5" descr="Envelope with solid fill">
            <a:extLst>
              <a:ext uri="{FF2B5EF4-FFF2-40B4-BE49-F238E27FC236}">
                <a16:creationId xmlns:a16="http://schemas.microsoft.com/office/drawing/2014/main" id="{894C6450-E05C-30B1-9169-60220A4C39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2988" y="4311658"/>
            <a:ext cx="260224" cy="260224"/>
          </a:xfrm>
          <a:prstGeom prst="rect">
            <a:avLst/>
          </a:prstGeom>
        </p:spPr>
      </p:pic>
      <p:pic>
        <p:nvPicPr>
          <p:cNvPr id="7" name="Graphic 6" descr="Envelope with solid fill">
            <a:extLst>
              <a:ext uri="{FF2B5EF4-FFF2-40B4-BE49-F238E27FC236}">
                <a16:creationId xmlns:a16="http://schemas.microsoft.com/office/drawing/2014/main" id="{519AEE14-A1C3-DAE8-9033-EFCA2005C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5577" y="3704934"/>
            <a:ext cx="260224" cy="260224"/>
          </a:xfrm>
          <a:prstGeom prst="rect">
            <a:avLst/>
          </a:prstGeom>
        </p:spPr>
      </p:pic>
      <p:pic>
        <p:nvPicPr>
          <p:cNvPr id="8" name="Graphic 7" descr="Envelope with solid fill">
            <a:extLst>
              <a:ext uri="{FF2B5EF4-FFF2-40B4-BE49-F238E27FC236}">
                <a16:creationId xmlns:a16="http://schemas.microsoft.com/office/drawing/2014/main" id="{991C3396-FB2A-DBAE-8206-0BCFAFB8D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8060" y="4311658"/>
            <a:ext cx="260224" cy="260224"/>
          </a:xfrm>
          <a:prstGeom prst="rect">
            <a:avLst/>
          </a:prstGeom>
        </p:spPr>
      </p:pic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E3792682-377D-D5EE-D12F-E85312FCC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2598" y="3140871"/>
            <a:ext cx="202323" cy="202323"/>
          </a:xfrm>
          <a:prstGeom prst="rect">
            <a:avLst/>
          </a:prstGeom>
        </p:spPr>
      </p:pic>
      <p:pic>
        <p:nvPicPr>
          <p:cNvPr id="13" name="Graphic 12" descr="Close with solid fill">
            <a:extLst>
              <a:ext uri="{FF2B5EF4-FFF2-40B4-BE49-F238E27FC236}">
                <a16:creationId xmlns:a16="http://schemas.microsoft.com/office/drawing/2014/main" id="{A898FD61-D02C-7D12-1848-945FA1A3E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3645" y="3762835"/>
            <a:ext cx="202323" cy="202323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45ED5B57-6391-E9A9-71A5-C20C9F00D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2598" y="4340608"/>
            <a:ext cx="202323" cy="202323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CDD73DB3-1AD4-939C-916B-CA8C29680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3564" y="4959017"/>
            <a:ext cx="202323" cy="202323"/>
          </a:xfrm>
          <a:prstGeom prst="rect">
            <a:avLst/>
          </a:prstGeom>
        </p:spPr>
      </p:pic>
      <p:pic>
        <p:nvPicPr>
          <p:cNvPr id="16" name="Graphic 15" descr="Envelope with solid fill">
            <a:extLst>
              <a:ext uri="{FF2B5EF4-FFF2-40B4-BE49-F238E27FC236}">
                <a16:creationId xmlns:a16="http://schemas.microsoft.com/office/drawing/2014/main" id="{2700182A-B5E4-5BE4-1AB7-54C10BA0A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4883" y="5534407"/>
            <a:ext cx="260224" cy="260224"/>
          </a:xfrm>
          <a:prstGeom prst="rect">
            <a:avLst/>
          </a:prstGeom>
        </p:spPr>
      </p:pic>
      <p:pic>
        <p:nvPicPr>
          <p:cNvPr id="18" name="Graphic 17" descr="Envelope with solid fill">
            <a:extLst>
              <a:ext uri="{FF2B5EF4-FFF2-40B4-BE49-F238E27FC236}">
                <a16:creationId xmlns:a16="http://schemas.microsoft.com/office/drawing/2014/main" id="{333EE5B5-126A-EA18-9243-5AE057160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9527" y="3663263"/>
            <a:ext cx="260224" cy="260224"/>
          </a:xfrm>
          <a:prstGeom prst="rect">
            <a:avLst/>
          </a:prstGeom>
        </p:spPr>
      </p:pic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194B0F7B-1A79-659B-9D8B-117D2E741F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64" y="3119684"/>
            <a:ext cx="260224" cy="26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7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690DE-55BE-7407-11F9-1B98D847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0AC79D-4740-FAD4-3178-A318AC76D7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1F1F1F"/>
                </a:solidFill>
                <a:latin typeface="Calibri" panose="020F0502020204030204"/>
              </a:rPr>
              <a:t>We can target autonomous outcomes without waiting for Deloitte to recommend a fit for purpose tech stack in month 4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3B96EC6-535F-4C5B-D69C-F147A10F1A14}"/>
              </a:ext>
            </a:extLst>
          </p:cNvPr>
          <p:cNvGrpSpPr/>
          <p:nvPr/>
        </p:nvGrpSpPr>
        <p:grpSpPr>
          <a:xfrm>
            <a:off x="101362" y="1158240"/>
            <a:ext cx="3911362" cy="5534298"/>
            <a:chOff x="101362" y="1158240"/>
            <a:chExt cx="3911362" cy="55778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54F9057-1C82-F17D-AECF-913A5EDA3AF0}"/>
                </a:ext>
              </a:extLst>
            </p:cNvPr>
            <p:cNvSpPr/>
            <p:nvPr/>
          </p:nvSpPr>
          <p:spPr>
            <a:xfrm>
              <a:off x="101362" y="1300480"/>
              <a:ext cx="3891518" cy="5435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7" name="Text 14">
              <a:extLst>
                <a:ext uri="{FF2B5EF4-FFF2-40B4-BE49-F238E27FC236}">
                  <a16:creationId xmlns:a16="http://schemas.microsoft.com/office/drawing/2014/main" id="{68C2FD6A-2E43-1A0C-3F8A-91F10682E172}"/>
                </a:ext>
              </a:extLst>
            </p:cNvPr>
            <p:cNvSpPr/>
            <p:nvPr/>
          </p:nvSpPr>
          <p:spPr>
            <a:xfrm>
              <a:off x="1269200" y="1158240"/>
              <a:ext cx="1575600" cy="321122"/>
            </a:xfrm>
            <a:prstGeom prst="rect">
              <a:avLst/>
            </a:prstGeom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50" b="1" i="1" u="sng" dirty="0"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Option 1</a:t>
              </a:r>
              <a:endParaRPr lang="en-US" sz="1550" i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005517-51A4-7EDD-60F4-7C0701518EBA}"/>
                </a:ext>
              </a:extLst>
            </p:cNvPr>
            <p:cNvSpPr txBox="1"/>
            <p:nvPr/>
          </p:nvSpPr>
          <p:spPr>
            <a:xfrm>
              <a:off x="132080" y="1477131"/>
              <a:ext cx="37083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C58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AI-first sourcing &amp; intake layered on Oracle for execution and financial control.</a:t>
              </a:r>
              <a:endParaRPr lang="en-US" sz="1200" dirty="0"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B5DDC8D6-EC07-571D-A365-FEC04BEE8BE1}"/>
                </a:ext>
              </a:extLst>
            </p:cNvPr>
            <p:cNvSpPr/>
            <p:nvPr/>
          </p:nvSpPr>
          <p:spPr>
            <a:xfrm>
              <a:off x="254000" y="2041364"/>
              <a:ext cx="1247140" cy="384963"/>
            </a:xfrm>
            <a:prstGeom prst="rect">
              <a:avLst/>
            </a:prstGeom>
            <a:solidFill>
              <a:srgbClr val="F2F1EF"/>
            </a:solidFill>
            <a:ln w="6350">
              <a:solidFill>
                <a:srgbClr val="E0DED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000" b="1" dirty="0"/>
                <a:t>Procure AI </a:t>
              </a:r>
            </a:p>
            <a:p>
              <a:pPr algn="ctr"/>
              <a:r>
                <a:rPr lang="en-GB" sz="1000" dirty="0"/>
                <a:t>Intake, Sourcing</a:t>
              </a:r>
              <a:endParaRPr lang="en-US" sz="1000" dirty="0"/>
            </a:p>
          </p:txBody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DB72EC4F-19B4-CB5D-AA50-76A25A1CB6F1}"/>
                </a:ext>
              </a:extLst>
            </p:cNvPr>
            <p:cNvSpPr/>
            <p:nvPr/>
          </p:nvSpPr>
          <p:spPr>
            <a:xfrm>
              <a:off x="1764030" y="2041365"/>
              <a:ext cx="2076450" cy="384962"/>
            </a:xfrm>
            <a:prstGeom prst="rect">
              <a:avLst/>
            </a:prstGeom>
            <a:solidFill>
              <a:srgbClr val="F2F1EF"/>
            </a:solidFill>
            <a:ln w="6350">
              <a:solidFill>
                <a:srgbClr val="E0DED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000" b="1" dirty="0"/>
                <a:t>Oracle</a:t>
              </a:r>
            </a:p>
            <a:p>
              <a:pPr algn="ctr"/>
              <a:r>
                <a:rPr lang="en-GB" sz="1000" dirty="0"/>
                <a:t>PR,PO, Payment, System of record</a:t>
              </a:r>
              <a:endParaRPr lang="en-US" sz="1000" dirty="0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35032C00-9FD6-5792-7006-F80FA053DE07}"/>
                </a:ext>
              </a:extLst>
            </p:cNvPr>
            <p:cNvSpPr/>
            <p:nvPr/>
          </p:nvSpPr>
          <p:spPr>
            <a:xfrm>
              <a:off x="142239" y="2826783"/>
              <a:ext cx="3586479" cy="1954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STRENGTHS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9D894B56-7FB3-6110-9CB1-D5029F5D2809}"/>
                </a:ext>
              </a:extLst>
            </p:cNvPr>
            <p:cNvSpPr/>
            <p:nvPr/>
          </p:nvSpPr>
          <p:spPr>
            <a:xfrm>
              <a:off x="142239" y="3067622"/>
              <a:ext cx="3870485" cy="384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Highest AI maturity: autonomous intake, RFQ &amp; negotiation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5731EE29-366E-0A37-DE23-DEFC7FB1BDA3}"/>
                </a:ext>
              </a:extLst>
            </p:cNvPr>
            <p:cNvSpPr/>
            <p:nvPr/>
          </p:nvSpPr>
          <p:spPr>
            <a:xfrm>
              <a:off x="142239" y="3397297"/>
              <a:ext cx="3790459" cy="384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Touchless PR potential for compliant scenarios (17k PRs/ year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4FE590FE-7FA1-9DB3-9991-EA5CE75A85B8}"/>
                </a:ext>
              </a:extLst>
            </p:cNvPr>
            <p:cNvSpPr/>
            <p:nvPr/>
          </p:nvSpPr>
          <p:spPr>
            <a:xfrm>
              <a:off x="142239" y="3726974"/>
              <a:ext cx="3586479" cy="384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Preserves Oracle financial, audit &amp; approval controls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6780F358-A32D-5A65-B0BB-24234FD770C2}"/>
                </a:ext>
              </a:extLst>
            </p:cNvPr>
            <p:cNvSpPr/>
            <p:nvPr/>
          </p:nvSpPr>
          <p:spPr>
            <a:xfrm>
              <a:off x="142239" y="4056649"/>
              <a:ext cx="3708399" cy="384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Faster value realization - augmentation, not replacement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 28">
              <a:extLst>
                <a:ext uri="{FF2B5EF4-FFF2-40B4-BE49-F238E27FC236}">
                  <a16:creationId xmlns:a16="http://schemas.microsoft.com/office/drawing/2014/main" id="{413685F7-F253-7F08-627B-066771FD29E8}"/>
                </a:ext>
              </a:extLst>
            </p:cNvPr>
            <p:cNvSpPr/>
            <p:nvPr/>
          </p:nvSpPr>
          <p:spPr>
            <a:xfrm>
              <a:off x="142239" y="4386326"/>
              <a:ext cx="3586479" cy="384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Clear separation: innovation layer vs control layer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 29">
              <a:extLst>
                <a:ext uri="{FF2B5EF4-FFF2-40B4-BE49-F238E27FC236}">
                  <a16:creationId xmlns:a16="http://schemas.microsoft.com/office/drawing/2014/main" id="{7A9B637A-EF2E-F7FB-C252-705C1C6AEA7F}"/>
                </a:ext>
              </a:extLst>
            </p:cNvPr>
            <p:cNvSpPr/>
            <p:nvPr/>
          </p:nvSpPr>
          <p:spPr>
            <a:xfrm>
              <a:off x="142239" y="4716001"/>
              <a:ext cx="3586479" cy="2961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LIMITATIONS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796839CF-D623-F72E-C77C-06071A7203B0}"/>
                </a:ext>
              </a:extLst>
            </p:cNvPr>
            <p:cNvSpPr/>
            <p:nvPr/>
          </p:nvSpPr>
          <p:spPr>
            <a:xfrm>
              <a:off x="142239" y="4956841"/>
              <a:ext cx="3586479" cy="384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Supplier onboarding AI partially roadmap-dependent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EE9F9A73-39CF-B691-F335-CFEF2A6868B9}"/>
                </a:ext>
              </a:extLst>
            </p:cNvPr>
            <p:cNvSpPr/>
            <p:nvPr/>
          </p:nvSpPr>
          <p:spPr>
            <a:xfrm>
              <a:off x="142239" y="5286518"/>
              <a:ext cx="3586479" cy="384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Requires integration governance (scoped to S2C)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 33">
              <a:extLst>
                <a:ext uri="{FF2B5EF4-FFF2-40B4-BE49-F238E27FC236}">
                  <a16:creationId xmlns:a16="http://schemas.microsoft.com/office/drawing/2014/main" id="{CDA05F7B-6BC5-8F96-97FB-F0BD1A25FB25}"/>
                </a:ext>
              </a:extLst>
            </p:cNvPr>
            <p:cNvSpPr/>
            <p:nvPr/>
          </p:nvSpPr>
          <p:spPr>
            <a:xfrm>
              <a:off x="223282" y="6429597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Innovation Speed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 35">
              <a:extLst>
                <a:ext uri="{FF2B5EF4-FFF2-40B4-BE49-F238E27FC236}">
                  <a16:creationId xmlns:a16="http://schemas.microsoft.com/office/drawing/2014/main" id="{E85C4DDC-99AA-F383-062B-C45FEF6F8E2D}"/>
                </a:ext>
              </a:extLst>
            </p:cNvPr>
            <p:cNvSpPr/>
            <p:nvPr/>
          </p:nvSpPr>
          <p:spPr>
            <a:xfrm>
              <a:off x="1491114" y="6429597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AI-led Savings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 37">
              <a:extLst>
                <a:ext uri="{FF2B5EF4-FFF2-40B4-BE49-F238E27FC236}">
                  <a16:creationId xmlns:a16="http://schemas.microsoft.com/office/drawing/2014/main" id="{4AB0FFC1-7B72-F4FD-4F17-483D0E8BA8AD}"/>
                </a:ext>
              </a:extLst>
            </p:cNvPr>
            <p:cNvSpPr/>
            <p:nvPr/>
          </p:nvSpPr>
          <p:spPr>
            <a:xfrm>
              <a:off x="2758946" y="6417754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Controlled Risk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4B8B3AF-2633-8DD1-5E1C-7EEFE22CA788}"/>
              </a:ext>
            </a:extLst>
          </p:cNvPr>
          <p:cNvGrpSpPr/>
          <p:nvPr/>
        </p:nvGrpSpPr>
        <p:grpSpPr>
          <a:xfrm>
            <a:off x="4124484" y="1158240"/>
            <a:ext cx="3912314" cy="5534298"/>
            <a:chOff x="4124484" y="1137920"/>
            <a:chExt cx="3912314" cy="55981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3D29CC-8AC8-C3EE-F4B5-608160B275FA}"/>
                </a:ext>
              </a:extLst>
            </p:cNvPr>
            <p:cNvSpPr/>
            <p:nvPr/>
          </p:nvSpPr>
          <p:spPr>
            <a:xfrm>
              <a:off x="4145280" y="1300480"/>
              <a:ext cx="3891518" cy="5435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 14">
              <a:extLst>
                <a:ext uri="{FF2B5EF4-FFF2-40B4-BE49-F238E27FC236}">
                  <a16:creationId xmlns:a16="http://schemas.microsoft.com/office/drawing/2014/main" id="{C017EA03-3648-ABB4-6282-97FD722023C4}"/>
                </a:ext>
              </a:extLst>
            </p:cNvPr>
            <p:cNvSpPr/>
            <p:nvPr/>
          </p:nvSpPr>
          <p:spPr>
            <a:xfrm>
              <a:off x="5191760" y="1137920"/>
              <a:ext cx="1575600" cy="29464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50" b="1" i="1" u="sng" dirty="0"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Option 2</a:t>
              </a:r>
              <a:endParaRPr lang="en-US" sz="1550" i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AD6302-0629-00E2-83CE-2855244229B6}"/>
                </a:ext>
              </a:extLst>
            </p:cNvPr>
            <p:cNvSpPr txBox="1"/>
            <p:nvPr/>
          </p:nvSpPr>
          <p:spPr>
            <a:xfrm>
              <a:off x="4124484" y="1438526"/>
              <a:ext cx="3891518" cy="461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C58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Single-vendor ERP-native Source-to-Pay across the full procurement lifecycle.</a:t>
              </a:r>
              <a:endParaRPr lang="en-US" sz="1200" dirty="0"/>
            </a:p>
          </p:txBody>
        </p:sp>
        <p:sp>
          <p:nvSpPr>
            <p:cNvPr id="35" name="Text 52">
              <a:extLst>
                <a:ext uri="{FF2B5EF4-FFF2-40B4-BE49-F238E27FC236}">
                  <a16:creationId xmlns:a16="http://schemas.microsoft.com/office/drawing/2014/main" id="{0E916B25-9294-D59A-A9F0-0B749EC1A44C}"/>
                </a:ext>
              </a:extLst>
            </p:cNvPr>
            <p:cNvSpPr/>
            <p:nvPr/>
          </p:nvSpPr>
          <p:spPr>
            <a:xfrm>
              <a:off x="4315968" y="2827720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STRENGTHS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 53">
              <a:extLst>
                <a:ext uri="{FF2B5EF4-FFF2-40B4-BE49-F238E27FC236}">
                  <a16:creationId xmlns:a16="http://schemas.microsoft.com/office/drawing/2014/main" id="{D5D5B68B-F315-E6DD-F61D-B41FCD4BE045}"/>
                </a:ext>
              </a:extLst>
            </p:cNvPr>
            <p:cNvSpPr/>
            <p:nvPr/>
          </p:nvSpPr>
          <p:spPr>
            <a:xfrm>
              <a:off x="4315968" y="3138727"/>
              <a:ext cx="3720830" cy="2119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Lowest enterprise risk — single vendor, native integration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 54">
              <a:extLst>
                <a:ext uri="{FF2B5EF4-FFF2-40B4-BE49-F238E27FC236}">
                  <a16:creationId xmlns:a16="http://schemas.microsoft.com/office/drawing/2014/main" id="{E59E8B05-9B27-5B81-92B0-B5D1A719ECFE}"/>
                </a:ext>
              </a:extLst>
            </p:cNvPr>
            <p:cNvSpPr/>
            <p:nvPr/>
          </p:nvSpPr>
          <p:spPr>
            <a:xfrm>
              <a:off x="4315968" y="3486198"/>
              <a:ext cx="3337560" cy="237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Strong compliance, DOA enforcement &amp; auditability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 55">
              <a:extLst>
                <a:ext uri="{FF2B5EF4-FFF2-40B4-BE49-F238E27FC236}">
                  <a16:creationId xmlns:a16="http://schemas.microsoft.com/office/drawing/2014/main" id="{984B7CC0-AB3F-DCF6-9B4E-29EEA56A048F}"/>
                </a:ext>
              </a:extLst>
            </p:cNvPr>
            <p:cNvSpPr/>
            <p:nvPr/>
          </p:nvSpPr>
          <p:spPr>
            <a:xfrm>
              <a:off x="4315968" y="3874310"/>
              <a:ext cx="3337560" cy="237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Continuous Oracle roadmap improvements (Redwood UX)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 56">
              <a:extLst>
                <a:ext uri="{FF2B5EF4-FFF2-40B4-BE49-F238E27FC236}">
                  <a16:creationId xmlns:a16="http://schemas.microsoft.com/office/drawing/2014/main" id="{1E125C6A-9C9F-0540-6242-E8BC1014E881}"/>
                </a:ext>
              </a:extLst>
            </p:cNvPr>
            <p:cNvSpPr/>
            <p:nvPr/>
          </p:nvSpPr>
          <p:spPr>
            <a:xfrm>
              <a:off x="4315968" y="4758231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LIMITATIONS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57">
              <a:extLst>
                <a:ext uri="{FF2B5EF4-FFF2-40B4-BE49-F238E27FC236}">
                  <a16:creationId xmlns:a16="http://schemas.microsoft.com/office/drawing/2014/main" id="{B142427F-733A-F5BA-09C8-C3F6D1401F67}"/>
                </a:ext>
              </a:extLst>
            </p:cNvPr>
            <p:cNvSpPr/>
            <p:nvPr/>
          </p:nvSpPr>
          <p:spPr>
            <a:xfrm>
              <a:off x="4315968" y="4959398"/>
              <a:ext cx="3337560" cy="237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AI is assistive, not autonomous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 58">
              <a:extLst>
                <a:ext uri="{FF2B5EF4-FFF2-40B4-BE49-F238E27FC236}">
                  <a16:creationId xmlns:a16="http://schemas.microsoft.com/office/drawing/2014/main" id="{C39A9873-37B9-FF0F-95A8-F049AF70208B}"/>
                </a:ext>
              </a:extLst>
            </p:cNvPr>
            <p:cNvSpPr/>
            <p:nvPr/>
          </p:nvSpPr>
          <p:spPr>
            <a:xfrm>
              <a:off x="4315968" y="5215430"/>
              <a:ext cx="3337560" cy="237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Slower sourcing cycles vs AI-first platforms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59">
              <a:extLst>
                <a:ext uri="{FF2B5EF4-FFF2-40B4-BE49-F238E27FC236}">
                  <a16:creationId xmlns:a16="http://schemas.microsoft.com/office/drawing/2014/main" id="{A6F55966-E3F0-8D33-5996-F1537790A226}"/>
                </a:ext>
              </a:extLst>
            </p:cNvPr>
            <p:cNvSpPr/>
            <p:nvPr/>
          </p:nvSpPr>
          <p:spPr>
            <a:xfrm>
              <a:off x="4315968" y="5471462"/>
              <a:ext cx="3337560" cy="237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Limited differentiation beyond standard ERP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Shape 18">
              <a:extLst>
                <a:ext uri="{FF2B5EF4-FFF2-40B4-BE49-F238E27FC236}">
                  <a16:creationId xmlns:a16="http://schemas.microsoft.com/office/drawing/2014/main" id="{0CC29EF1-F957-76B9-B8EE-9FE015728859}"/>
                </a:ext>
              </a:extLst>
            </p:cNvPr>
            <p:cNvSpPr/>
            <p:nvPr/>
          </p:nvSpPr>
          <p:spPr>
            <a:xfrm>
              <a:off x="4255770" y="2029390"/>
              <a:ext cx="3638550" cy="384962"/>
            </a:xfrm>
            <a:prstGeom prst="rect">
              <a:avLst/>
            </a:prstGeom>
            <a:solidFill>
              <a:srgbClr val="F2F1EF"/>
            </a:solidFill>
            <a:ln w="6350">
              <a:solidFill>
                <a:srgbClr val="E0DED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000" b="1" dirty="0"/>
                <a:t>Oracle</a:t>
              </a:r>
            </a:p>
            <a:p>
              <a:pPr algn="ctr"/>
              <a:r>
                <a:rPr lang="en-GB" sz="1000" dirty="0"/>
                <a:t>Sourcing, PR,PO, Payment, Masters, System of record</a:t>
              </a:r>
              <a:endParaRPr lang="en-US" sz="1000" dirty="0"/>
            </a:p>
          </p:txBody>
        </p:sp>
        <p:sp>
          <p:nvSpPr>
            <p:cNvPr id="58" name="Text 61">
              <a:extLst>
                <a:ext uri="{FF2B5EF4-FFF2-40B4-BE49-F238E27FC236}">
                  <a16:creationId xmlns:a16="http://schemas.microsoft.com/office/drawing/2014/main" id="{5B043DA5-2938-2851-855F-FEBF05AE5B65}"/>
                </a:ext>
              </a:extLst>
            </p:cNvPr>
            <p:cNvSpPr/>
            <p:nvPr/>
          </p:nvSpPr>
          <p:spPr>
            <a:xfrm>
              <a:off x="4204970" y="6416040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Standardisation</a:t>
              </a:r>
              <a:endParaRPr lang="en-US" sz="900" dirty="0">
                <a:solidFill>
                  <a:srgbClr val="0E8C7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 63">
              <a:extLst>
                <a:ext uri="{FF2B5EF4-FFF2-40B4-BE49-F238E27FC236}">
                  <a16:creationId xmlns:a16="http://schemas.microsoft.com/office/drawing/2014/main" id="{647E47A3-3B49-C264-0FE7-2D961CE86281}"/>
                </a:ext>
              </a:extLst>
            </p:cNvPr>
            <p:cNvSpPr/>
            <p:nvPr/>
          </p:nvSpPr>
          <p:spPr>
            <a:xfrm>
              <a:off x="5532460" y="6404197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Compliance</a:t>
              </a:r>
              <a:endParaRPr lang="en-US" sz="900" dirty="0">
                <a:solidFill>
                  <a:srgbClr val="0E8C7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 65">
              <a:extLst>
                <a:ext uri="{FF2B5EF4-FFF2-40B4-BE49-F238E27FC236}">
                  <a16:creationId xmlns:a16="http://schemas.microsoft.com/office/drawing/2014/main" id="{B054ECF6-574A-AA9D-8569-5E048793A0CA}"/>
                </a:ext>
              </a:extLst>
            </p:cNvPr>
            <p:cNvSpPr/>
            <p:nvPr/>
          </p:nvSpPr>
          <p:spPr>
            <a:xfrm>
              <a:off x="6859949" y="6407594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Low IT Complexity</a:t>
              </a:r>
              <a:endParaRPr lang="en-US" sz="900" dirty="0">
                <a:solidFill>
                  <a:srgbClr val="0E8C7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32DF301-92C7-D8C3-441E-D7A6BDBF4CFB}"/>
              </a:ext>
            </a:extLst>
          </p:cNvPr>
          <p:cNvGrpSpPr/>
          <p:nvPr/>
        </p:nvGrpSpPr>
        <p:grpSpPr>
          <a:xfrm>
            <a:off x="8147606" y="1158240"/>
            <a:ext cx="3912314" cy="5534298"/>
            <a:chOff x="8147606" y="1127760"/>
            <a:chExt cx="3912314" cy="56083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BC21C4-1A1F-FDC4-79B9-3BB84F94B68A}"/>
                </a:ext>
              </a:extLst>
            </p:cNvPr>
            <p:cNvSpPr/>
            <p:nvPr/>
          </p:nvSpPr>
          <p:spPr>
            <a:xfrm>
              <a:off x="8168402" y="1300480"/>
              <a:ext cx="3891518" cy="5435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 14">
              <a:extLst>
                <a:ext uri="{FF2B5EF4-FFF2-40B4-BE49-F238E27FC236}">
                  <a16:creationId xmlns:a16="http://schemas.microsoft.com/office/drawing/2014/main" id="{B39D774E-9719-67F5-FF9D-EA2572DBE629}"/>
                </a:ext>
              </a:extLst>
            </p:cNvPr>
            <p:cNvSpPr/>
            <p:nvPr/>
          </p:nvSpPr>
          <p:spPr>
            <a:xfrm>
              <a:off x="8879841" y="1127760"/>
              <a:ext cx="2428240" cy="35160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50" b="1" i="1" u="sng" dirty="0">
                  <a:solidFill>
                    <a:srgbClr val="0F1C2E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Option 3</a:t>
              </a:r>
              <a:endParaRPr lang="en-US" sz="1550" i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9293DA-A408-C321-F506-A64D74F2A0C4}"/>
                </a:ext>
              </a:extLst>
            </p:cNvPr>
            <p:cNvSpPr txBox="1"/>
            <p:nvPr/>
          </p:nvSpPr>
          <p:spPr>
            <a:xfrm>
              <a:off x="8147606" y="1441831"/>
              <a:ext cx="38876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C58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Replace Oracle sourcing with a specialist S2P platform; Oracle retained for finance only.</a:t>
              </a:r>
              <a:endParaRPr lang="en-US" sz="1200" dirty="0"/>
            </a:p>
          </p:txBody>
        </p:sp>
        <p:sp>
          <p:nvSpPr>
            <p:cNvPr id="44" name="Shape 18">
              <a:extLst>
                <a:ext uri="{FF2B5EF4-FFF2-40B4-BE49-F238E27FC236}">
                  <a16:creationId xmlns:a16="http://schemas.microsoft.com/office/drawing/2014/main" id="{9F1493A2-8463-8990-3AEC-5F7D8FA2BF06}"/>
                </a:ext>
              </a:extLst>
            </p:cNvPr>
            <p:cNvSpPr/>
            <p:nvPr/>
          </p:nvSpPr>
          <p:spPr>
            <a:xfrm>
              <a:off x="8278690" y="2018756"/>
              <a:ext cx="3638550" cy="384962"/>
            </a:xfrm>
            <a:prstGeom prst="rect">
              <a:avLst/>
            </a:prstGeom>
            <a:solidFill>
              <a:srgbClr val="F2F1EF"/>
            </a:solidFill>
            <a:ln w="6350">
              <a:solidFill>
                <a:srgbClr val="E0DED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000" b="1" dirty="0"/>
                <a:t>Best of breed system</a:t>
              </a:r>
            </a:p>
            <a:p>
              <a:pPr algn="ctr"/>
              <a:r>
                <a:rPr lang="en-GB" sz="1000" dirty="0"/>
                <a:t>Sourcing, PR,PO, Payment, Masters, System of record</a:t>
              </a:r>
              <a:endParaRPr lang="en-US" sz="1000" dirty="0"/>
            </a:p>
          </p:txBody>
        </p:sp>
        <p:sp>
          <p:nvSpPr>
            <p:cNvPr id="45" name="Text 76">
              <a:extLst>
                <a:ext uri="{FF2B5EF4-FFF2-40B4-BE49-F238E27FC236}">
                  <a16:creationId xmlns:a16="http://schemas.microsoft.com/office/drawing/2014/main" id="{4A9D0EC0-B3CB-7035-1EE4-CC8B5CB0D164}"/>
                </a:ext>
              </a:extLst>
            </p:cNvPr>
            <p:cNvSpPr/>
            <p:nvPr/>
          </p:nvSpPr>
          <p:spPr>
            <a:xfrm>
              <a:off x="8442769" y="2750157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STRENGTHS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77">
              <a:extLst>
                <a:ext uri="{FF2B5EF4-FFF2-40B4-BE49-F238E27FC236}">
                  <a16:creationId xmlns:a16="http://schemas.microsoft.com/office/drawing/2014/main" id="{980FA6F4-4FA3-CFEC-BD5D-694FE6424858}"/>
                </a:ext>
              </a:extLst>
            </p:cNvPr>
            <p:cNvSpPr/>
            <p:nvPr/>
          </p:nvSpPr>
          <p:spPr>
            <a:xfrm>
              <a:off x="8442769" y="2960468"/>
              <a:ext cx="333756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Deep sourcing sophistication (especially Ivalua)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78">
              <a:extLst>
                <a:ext uri="{FF2B5EF4-FFF2-40B4-BE49-F238E27FC236}">
                  <a16:creationId xmlns:a16="http://schemas.microsoft.com/office/drawing/2014/main" id="{78678F5A-DD36-F927-6BF2-FC213B53C8E3}"/>
                </a:ext>
              </a:extLst>
            </p:cNvPr>
            <p:cNvSpPr/>
            <p:nvPr/>
          </p:nvSpPr>
          <p:spPr>
            <a:xfrm>
              <a:off x="8442769" y="3260528"/>
              <a:ext cx="333756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Strong supplier portals &amp; lifecycle management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79">
              <a:extLst>
                <a:ext uri="{FF2B5EF4-FFF2-40B4-BE49-F238E27FC236}">
                  <a16:creationId xmlns:a16="http://schemas.microsoft.com/office/drawing/2014/main" id="{FC30EA1D-DC69-0E0F-9EA0-860B17B4BB51}"/>
                </a:ext>
              </a:extLst>
            </p:cNvPr>
            <p:cNvSpPr/>
            <p:nvPr/>
          </p:nvSpPr>
          <p:spPr>
            <a:xfrm>
              <a:off x="8442769" y="3560586"/>
              <a:ext cx="3495232" cy="224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Advanced analytics and category-level optimisation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 80">
              <a:extLst>
                <a:ext uri="{FF2B5EF4-FFF2-40B4-BE49-F238E27FC236}">
                  <a16:creationId xmlns:a16="http://schemas.microsoft.com/office/drawing/2014/main" id="{48F191DB-803E-7440-7D6D-C1D796E40B27}"/>
                </a:ext>
              </a:extLst>
            </p:cNvPr>
            <p:cNvSpPr/>
            <p:nvPr/>
          </p:nvSpPr>
          <p:spPr>
            <a:xfrm>
              <a:off x="8442769" y="3860644"/>
              <a:ext cx="333756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↑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Growing agentic AI capabilities (esp. Coupa)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81">
              <a:extLst>
                <a:ext uri="{FF2B5EF4-FFF2-40B4-BE49-F238E27FC236}">
                  <a16:creationId xmlns:a16="http://schemas.microsoft.com/office/drawing/2014/main" id="{0AF2277D-B051-760C-99CF-E6AEA205FF0B}"/>
                </a:ext>
              </a:extLst>
            </p:cNvPr>
            <p:cNvSpPr/>
            <p:nvPr/>
          </p:nvSpPr>
          <p:spPr>
            <a:xfrm>
              <a:off x="8442769" y="4620613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LIMITATIONS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82">
              <a:extLst>
                <a:ext uri="{FF2B5EF4-FFF2-40B4-BE49-F238E27FC236}">
                  <a16:creationId xmlns:a16="http://schemas.microsoft.com/office/drawing/2014/main" id="{127BF88E-2A11-B63D-B716-489B2F499239}"/>
                </a:ext>
              </a:extLst>
            </p:cNvPr>
            <p:cNvSpPr/>
            <p:nvPr/>
          </p:nvSpPr>
          <p:spPr>
            <a:xfrm>
              <a:off x="8442769" y="4903060"/>
              <a:ext cx="3592492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Highest change management and business disruption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83">
              <a:extLst>
                <a:ext uri="{FF2B5EF4-FFF2-40B4-BE49-F238E27FC236}">
                  <a16:creationId xmlns:a16="http://schemas.microsoft.com/office/drawing/2014/main" id="{2C3B98C5-E895-159D-2E79-9754F97874B9}"/>
                </a:ext>
              </a:extLst>
            </p:cNvPr>
            <p:cNvSpPr/>
            <p:nvPr/>
          </p:nvSpPr>
          <p:spPr>
            <a:xfrm>
              <a:off x="8442769" y="5216665"/>
              <a:ext cx="333756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Licensing overlap with Oracle capabilities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84">
              <a:extLst>
                <a:ext uri="{FF2B5EF4-FFF2-40B4-BE49-F238E27FC236}">
                  <a16:creationId xmlns:a16="http://schemas.microsoft.com/office/drawing/2014/main" id="{F838075E-2DFC-484E-8B1C-1476E7F06257}"/>
                </a:ext>
              </a:extLst>
            </p:cNvPr>
            <p:cNvSpPr/>
            <p:nvPr/>
          </p:nvSpPr>
          <p:spPr>
            <a:xfrm>
              <a:off x="8442769" y="5530271"/>
              <a:ext cx="333756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Longest time-to-value (~9–18 months)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85">
              <a:extLst>
                <a:ext uri="{FF2B5EF4-FFF2-40B4-BE49-F238E27FC236}">
                  <a16:creationId xmlns:a16="http://schemas.microsoft.com/office/drawing/2014/main" id="{B7E5CF76-6F55-43B0-77B8-CBC8EAC74AA3}"/>
                </a:ext>
              </a:extLst>
            </p:cNvPr>
            <p:cNvSpPr/>
            <p:nvPr/>
          </p:nvSpPr>
          <p:spPr>
            <a:xfrm>
              <a:off x="8442769" y="5884517"/>
              <a:ext cx="333756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9541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↓  </a:t>
              </a:r>
              <a:r>
                <a:rPr lang="en-US" sz="1100" dirty="0">
                  <a:solidFill>
                    <a:srgbClr val="5C585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Risk of fragmented ownership (IT / Procurement / Finance)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 87">
              <a:extLst>
                <a:ext uri="{FF2B5EF4-FFF2-40B4-BE49-F238E27FC236}">
                  <a16:creationId xmlns:a16="http://schemas.microsoft.com/office/drawing/2014/main" id="{83E79DAA-80E7-D1E0-E51A-771DC2C6DD9A}"/>
                </a:ext>
              </a:extLst>
            </p:cNvPr>
            <p:cNvSpPr/>
            <p:nvPr/>
          </p:nvSpPr>
          <p:spPr>
            <a:xfrm>
              <a:off x="8339231" y="6412664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Best-in-class</a:t>
              </a:r>
              <a:endParaRPr lang="en-US" sz="900" dirty="0">
                <a:solidFill>
                  <a:srgbClr val="0E8C7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Text 89">
              <a:extLst>
                <a:ext uri="{FF2B5EF4-FFF2-40B4-BE49-F238E27FC236}">
                  <a16:creationId xmlns:a16="http://schemas.microsoft.com/office/drawing/2014/main" id="{48C82948-F424-FE4C-ACC9-FE53A7CDED78}"/>
                </a:ext>
              </a:extLst>
            </p:cNvPr>
            <p:cNvSpPr/>
            <p:nvPr/>
          </p:nvSpPr>
          <p:spPr>
            <a:xfrm>
              <a:off x="9690375" y="6412664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Governance</a:t>
              </a:r>
              <a:endParaRPr lang="en-US" sz="900" dirty="0">
                <a:solidFill>
                  <a:srgbClr val="0E8C7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Text 91">
              <a:extLst>
                <a:ext uri="{FF2B5EF4-FFF2-40B4-BE49-F238E27FC236}">
                  <a16:creationId xmlns:a16="http://schemas.microsoft.com/office/drawing/2014/main" id="{2C6EF6B9-138B-D5D6-D7FC-DBC4BEC93FB1}"/>
                </a:ext>
              </a:extLst>
            </p:cNvPr>
            <p:cNvSpPr/>
            <p:nvPr/>
          </p:nvSpPr>
          <p:spPr>
            <a:xfrm>
              <a:off x="10919259" y="6412664"/>
              <a:ext cx="1097280" cy="2194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E8C7A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Global Scale</a:t>
              </a:r>
              <a:endParaRPr lang="en-US" sz="900" dirty="0">
                <a:solidFill>
                  <a:srgbClr val="0E8C7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4FBE6BA-979B-0467-3FBD-2F8976D77413}"/>
              </a:ext>
            </a:extLst>
          </p:cNvPr>
          <p:cNvSpPr/>
          <p:nvPr/>
        </p:nvSpPr>
        <p:spPr>
          <a:xfrm>
            <a:off x="111759" y="5686452"/>
            <a:ext cx="3850641" cy="65119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Module Costs-  AED 400k/year </a:t>
            </a:r>
          </a:p>
          <a:p>
            <a:r>
              <a:rPr lang="en-GB" sz="900" i="1" dirty="0"/>
              <a:t>Intake+ Autonomous sourcing, </a:t>
            </a:r>
          </a:p>
          <a:p>
            <a:r>
              <a:rPr lang="en-GB" sz="900" i="1" dirty="0"/>
              <a:t>Supplier onboarding under development</a:t>
            </a:r>
          </a:p>
          <a:p>
            <a:r>
              <a:rPr lang="en-GB" sz="900" i="1" dirty="0"/>
              <a:t>Minimum contract period 24 months</a:t>
            </a:r>
            <a:endParaRPr lang="en-US" sz="900" i="1" dirty="0"/>
          </a:p>
        </p:txBody>
      </p:sp>
    </p:spTree>
    <p:extLst>
      <p:ext uri="{BB962C8B-B14F-4D97-AF65-F5344CB8AC3E}">
        <p14:creationId xmlns:p14="http://schemas.microsoft.com/office/powerpoint/2010/main" val="41244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1440-9AC9-F084-BBFC-7B866796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45374A-2EB1-387E-DFBF-3AC136D382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3200" b="1" dirty="0">
                <a:solidFill>
                  <a:srgbClr val="1F1F1F"/>
                </a:solidFill>
                <a:latin typeface="Calibri" panose="020F0502020204030204"/>
              </a:rPr>
              <a:t>Proposed “interim” tech landscape </a:t>
            </a: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8792118E-029C-6E31-8879-BA3CE80E7B5A}"/>
              </a:ext>
            </a:extLst>
          </p:cNvPr>
          <p:cNvSpPr txBox="1">
            <a:spLocks/>
          </p:cNvSpPr>
          <p:nvPr/>
        </p:nvSpPr>
        <p:spPr>
          <a:xfrm>
            <a:off x="233442" y="5969094"/>
            <a:ext cx="9503358" cy="440759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Oracle procurement module does not provide solutions for our sourcing needs where Agentic AI solutions are being evaluated.</a:t>
            </a:r>
            <a:endParaRPr lang="en-US" sz="1400" b="1" i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0" name="Flowchart: Manual Operation 219">
            <a:extLst>
              <a:ext uri="{FF2B5EF4-FFF2-40B4-BE49-F238E27FC236}">
                <a16:creationId xmlns:a16="http://schemas.microsoft.com/office/drawing/2014/main" id="{86AD3515-4B47-FA70-231B-1CEC14D0FC08}"/>
              </a:ext>
            </a:extLst>
          </p:cNvPr>
          <p:cNvSpPr/>
          <p:nvPr/>
        </p:nvSpPr>
        <p:spPr>
          <a:xfrm rot="10800000">
            <a:off x="3124579" y="1800676"/>
            <a:ext cx="1262572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AutoShape 3">
            <a:extLst>
              <a:ext uri="{FF2B5EF4-FFF2-40B4-BE49-F238E27FC236}">
                <a16:creationId xmlns:a16="http://schemas.microsoft.com/office/drawing/2014/main" id="{7F023743-AA95-9B1B-1C94-441D0C5B7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43" y="1588124"/>
            <a:ext cx="11419495" cy="457200"/>
          </a:xfrm>
          <a:prstGeom prst="rightArrow">
            <a:avLst/>
          </a:prstGeom>
          <a:solidFill>
            <a:sysClr val="window" lastClr="FFFFFF">
              <a:lumMod val="85000"/>
            </a:sysClr>
          </a:solidFill>
          <a:ln w="1270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tIns="68580" bIns="6858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76325" algn="ctr"/>
                <a:tab pos="2152650" algn="ctr"/>
                <a:tab pos="3228975" algn="ctr"/>
                <a:tab pos="4305300" algn="ctr"/>
                <a:tab pos="5381625" algn="r"/>
              </a:tabLst>
              <a:defRPr/>
            </a:pPr>
            <a:r>
              <a:rPr kumimoji="0" lang="en-US" altLang="ja-JP" sz="13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Open Sans" panose="020B0606030504020204" pitchFamily="34" charset="0"/>
              </a:rPr>
              <a:t>					</a:t>
            </a:r>
          </a:p>
        </p:txBody>
      </p:sp>
      <p:graphicFrame>
        <p:nvGraphicFramePr>
          <p:cNvPr id="222" name="Table 3">
            <a:extLst>
              <a:ext uri="{FF2B5EF4-FFF2-40B4-BE49-F238E27FC236}">
                <a16:creationId xmlns:a16="http://schemas.microsoft.com/office/drawing/2014/main" id="{56E00623-B89E-9C5C-A83C-BD263751EB7D}"/>
              </a:ext>
            </a:extLst>
          </p:cNvPr>
          <p:cNvGraphicFramePr>
            <a:graphicFrameLocks noGrp="1"/>
          </p:cNvGraphicFramePr>
          <p:nvPr/>
        </p:nvGraphicFramePr>
        <p:xfrm>
          <a:off x="540655" y="2751148"/>
          <a:ext cx="1285151" cy="3034017"/>
        </p:xfrm>
        <a:graphic>
          <a:graphicData uri="http://schemas.openxmlformats.org/drawingml/2006/table">
            <a:tbl>
              <a:tblPr/>
              <a:tblGrid>
                <a:gridCol w="1285151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56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Develop </a:t>
                      </a: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Annual Procurement Plan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96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Categories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52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item / service Master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  <a:tr h="6117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kumimoji="0" lang="en-IN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Catalog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00653"/>
                  </a:ext>
                </a:extLst>
              </a:tr>
              <a:tr h="6117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Analyze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MIS &amp; Spends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952988"/>
                  </a:ext>
                </a:extLst>
              </a:tr>
            </a:tbl>
          </a:graphicData>
        </a:graphic>
      </p:graphicFrame>
      <p:graphicFrame>
        <p:nvGraphicFramePr>
          <p:cNvPr id="223" name="Table 3">
            <a:extLst>
              <a:ext uri="{FF2B5EF4-FFF2-40B4-BE49-F238E27FC236}">
                <a16:creationId xmlns:a16="http://schemas.microsoft.com/office/drawing/2014/main" id="{6CCE4946-80EB-AC55-6B42-83C196EB955A}"/>
              </a:ext>
            </a:extLst>
          </p:cNvPr>
          <p:cNvGraphicFramePr>
            <a:graphicFrameLocks noGrp="1"/>
          </p:cNvGraphicFramePr>
          <p:nvPr/>
        </p:nvGraphicFramePr>
        <p:xfrm>
          <a:off x="1834742" y="2761643"/>
          <a:ext cx="1285150" cy="1791308"/>
        </p:xfrm>
        <a:graphic>
          <a:graphicData uri="http://schemas.openxmlformats.org/drawingml/2006/table">
            <a:tbl>
              <a:tblPr/>
              <a:tblGrid>
                <a:gridCol w="1285150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868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Register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Vendor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22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Assess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Performance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&amp; Risk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22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lang="en-IN" sz="110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Vendor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Relationships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</a:tbl>
          </a:graphicData>
        </a:graphic>
      </p:graphicFrame>
      <p:sp>
        <p:nvSpPr>
          <p:cNvPr id="224" name="Arrow: Chevron 223">
            <a:extLst>
              <a:ext uri="{FF2B5EF4-FFF2-40B4-BE49-F238E27FC236}">
                <a16:creationId xmlns:a16="http://schemas.microsoft.com/office/drawing/2014/main" id="{BB16C115-FD99-667E-84B9-3DF9A6ECA459}"/>
              </a:ext>
            </a:extLst>
          </p:cNvPr>
          <p:cNvSpPr/>
          <p:nvPr/>
        </p:nvSpPr>
        <p:spPr>
          <a:xfrm>
            <a:off x="532942" y="928710"/>
            <a:ext cx="5011243" cy="351602"/>
          </a:xfrm>
          <a:prstGeom prst="chevron">
            <a:avLst/>
          </a:prstGeom>
          <a:solidFill>
            <a:srgbClr val="CCB07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to Contract</a:t>
            </a: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Arrow: Chevron 224">
            <a:extLst>
              <a:ext uri="{FF2B5EF4-FFF2-40B4-BE49-F238E27FC236}">
                <a16:creationId xmlns:a16="http://schemas.microsoft.com/office/drawing/2014/main" id="{9A9700BC-FFE3-0664-760B-3E74E20C2A6E}"/>
              </a:ext>
            </a:extLst>
          </p:cNvPr>
          <p:cNvSpPr/>
          <p:nvPr/>
        </p:nvSpPr>
        <p:spPr>
          <a:xfrm>
            <a:off x="5544185" y="921350"/>
            <a:ext cx="6408253" cy="351602"/>
          </a:xfrm>
          <a:prstGeom prst="chevron">
            <a:avLst/>
          </a:prstGeom>
          <a:solidFill>
            <a:srgbClr val="CCB07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Procure to Pay</a:t>
            </a: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26" name="Table 3">
            <a:extLst>
              <a:ext uri="{FF2B5EF4-FFF2-40B4-BE49-F238E27FC236}">
                <a16:creationId xmlns:a16="http://schemas.microsoft.com/office/drawing/2014/main" id="{4C02C4D2-AF0D-6139-EE37-150EB7212DED}"/>
              </a:ext>
            </a:extLst>
          </p:cNvPr>
          <p:cNvGraphicFramePr>
            <a:graphicFrameLocks noGrp="1"/>
          </p:cNvGraphicFramePr>
          <p:nvPr/>
        </p:nvGraphicFramePr>
        <p:xfrm>
          <a:off x="9306560" y="2752799"/>
          <a:ext cx="1150814" cy="1201236"/>
        </p:xfrm>
        <a:graphic>
          <a:graphicData uri="http://schemas.openxmlformats.org/drawingml/2006/table">
            <a:tbl>
              <a:tblPr/>
              <a:tblGrid>
                <a:gridCol w="1150814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6006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Process </a:t>
                      </a: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and Validate Invoices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06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Record and Approve Invoice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</a:tbl>
          </a:graphicData>
        </a:graphic>
      </p:graphicFrame>
      <p:sp>
        <p:nvSpPr>
          <p:cNvPr id="227" name="Rectangle 226">
            <a:extLst>
              <a:ext uri="{FF2B5EF4-FFF2-40B4-BE49-F238E27FC236}">
                <a16:creationId xmlns:a16="http://schemas.microsoft.com/office/drawing/2014/main" id="{E0526419-FD03-97F9-ACAF-B2656E93C414}"/>
              </a:ext>
            </a:extLst>
          </p:cNvPr>
          <p:cNvSpPr/>
          <p:nvPr/>
        </p:nvSpPr>
        <p:spPr>
          <a:xfrm rot="16200000">
            <a:off x="-1161453" y="4137330"/>
            <a:ext cx="3034016" cy="281105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rgbClr val="E4F5F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L3 Processes (29)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C0FC154C-2221-E432-A8F1-A093512EE0D0}"/>
              </a:ext>
            </a:extLst>
          </p:cNvPr>
          <p:cNvSpPr/>
          <p:nvPr/>
        </p:nvSpPr>
        <p:spPr>
          <a:xfrm rot="16200000">
            <a:off x="-341645" y="1913397"/>
            <a:ext cx="1394398" cy="281106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rgbClr val="E4F5F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Processes (9)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Flowchart: Manual Operation 228">
            <a:extLst>
              <a:ext uri="{FF2B5EF4-FFF2-40B4-BE49-F238E27FC236}">
                <a16:creationId xmlns:a16="http://schemas.microsoft.com/office/drawing/2014/main" id="{20A2B24A-A1FD-2991-1CBD-640F0914255D}"/>
              </a:ext>
            </a:extLst>
          </p:cNvPr>
          <p:cNvSpPr/>
          <p:nvPr/>
        </p:nvSpPr>
        <p:spPr>
          <a:xfrm rot="10800000">
            <a:off x="545768" y="1792408"/>
            <a:ext cx="1277227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64F36766-85DE-8155-CEDE-384BEFCA5C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7886" y="1386544"/>
            <a:ext cx="1086495" cy="968016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Develop Sourcing Strategy &amp; Planning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1" name="Flowchart: Manual Operation 230">
            <a:extLst>
              <a:ext uri="{FF2B5EF4-FFF2-40B4-BE49-F238E27FC236}">
                <a16:creationId xmlns:a16="http://schemas.microsoft.com/office/drawing/2014/main" id="{3A4ED82E-3303-5BC0-D659-43ABE3279C01}"/>
              </a:ext>
            </a:extLst>
          </p:cNvPr>
          <p:cNvSpPr/>
          <p:nvPr/>
        </p:nvSpPr>
        <p:spPr>
          <a:xfrm rot="10800000">
            <a:off x="4400796" y="1793827"/>
            <a:ext cx="1143389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708DF44-8C11-8974-9DB2-8BD8C6F84F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3215" y="1367632"/>
            <a:ext cx="982224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Contracts</a:t>
            </a:r>
          </a:p>
        </p:txBody>
      </p:sp>
      <p:sp>
        <p:nvSpPr>
          <p:cNvPr id="233" name="Flowchart: Manual Operation 232">
            <a:extLst>
              <a:ext uri="{FF2B5EF4-FFF2-40B4-BE49-F238E27FC236}">
                <a16:creationId xmlns:a16="http://schemas.microsoft.com/office/drawing/2014/main" id="{BD2692B8-5FDE-0146-FDB7-B8E89B2396D5}"/>
              </a:ext>
            </a:extLst>
          </p:cNvPr>
          <p:cNvSpPr/>
          <p:nvPr/>
        </p:nvSpPr>
        <p:spPr>
          <a:xfrm rot="10800000">
            <a:off x="1849760" y="1790589"/>
            <a:ext cx="1249451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E194FD25-76BF-0509-1465-F858D8D859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1964" y="1367632"/>
            <a:ext cx="1005840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Vendors</a:t>
            </a:r>
          </a:p>
        </p:txBody>
      </p:sp>
      <p:sp>
        <p:nvSpPr>
          <p:cNvPr id="235" name="Flowchart: Manual Operation 234">
            <a:extLst>
              <a:ext uri="{FF2B5EF4-FFF2-40B4-BE49-F238E27FC236}">
                <a16:creationId xmlns:a16="http://schemas.microsoft.com/office/drawing/2014/main" id="{CC0020A7-4CBF-7DF6-5726-8C612E8FFECA}"/>
              </a:ext>
            </a:extLst>
          </p:cNvPr>
          <p:cNvSpPr/>
          <p:nvPr/>
        </p:nvSpPr>
        <p:spPr>
          <a:xfrm rot="10800000">
            <a:off x="5575328" y="1793827"/>
            <a:ext cx="1239991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19BD7978-AA41-8C62-B588-24BF8D0C43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6149" y="1367632"/>
            <a:ext cx="1214983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Requisitions and Orders</a:t>
            </a:r>
          </a:p>
        </p:txBody>
      </p:sp>
      <p:sp>
        <p:nvSpPr>
          <p:cNvPr id="237" name="Flowchart: Manual Operation 236">
            <a:extLst>
              <a:ext uri="{FF2B5EF4-FFF2-40B4-BE49-F238E27FC236}">
                <a16:creationId xmlns:a16="http://schemas.microsoft.com/office/drawing/2014/main" id="{D8EF8376-9EDF-B663-23AA-F0CBF4CD25BB}"/>
              </a:ext>
            </a:extLst>
          </p:cNvPr>
          <p:cNvSpPr/>
          <p:nvPr/>
        </p:nvSpPr>
        <p:spPr>
          <a:xfrm rot="10800000">
            <a:off x="6877007" y="1787345"/>
            <a:ext cx="1181182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D30FB817-17C0-2BA7-6F78-6D0CC32972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8589" y="1367632"/>
            <a:ext cx="1042516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Receipts &amp; Returns</a:t>
            </a:r>
          </a:p>
        </p:txBody>
      </p:sp>
      <p:sp>
        <p:nvSpPr>
          <p:cNvPr id="239" name="Flowchart: Manual Operation 238">
            <a:extLst>
              <a:ext uri="{FF2B5EF4-FFF2-40B4-BE49-F238E27FC236}">
                <a16:creationId xmlns:a16="http://schemas.microsoft.com/office/drawing/2014/main" id="{D8F1C308-9E6F-0104-30E1-6B09AD55FCA7}"/>
              </a:ext>
            </a:extLst>
          </p:cNvPr>
          <p:cNvSpPr/>
          <p:nvPr/>
        </p:nvSpPr>
        <p:spPr>
          <a:xfrm rot="10800000">
            <a:off x="9326878" y="1787345"/>
            <a:ext cx="1130496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388A3D85-E6AF-299D-C591-C537CF4505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67489" y="1367632"/>
            <a:ext cx="1091711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Accounts Payable</a:t>
            </a:r>
          </a:p>
        </p:txBody>
      </p:sp>
      <p:sp>
        <p:nvSpPr>
          <p:cNvPr id="241" name="Flowchart: Manual Operation 240">
            <a:extLst>
              <a:ext uri="{FF2B5EF4-FFF2-40B4-BE49-F238E27FC236}">
                <a16:creationId xmlns:a16="http://schemas.microsoft.com/office/drawing/2014/main" id="{8E14E363-187B-C9B3-9B0E-FBA9BF98C005}"/>
              </a:ext>
            </a:extLst>
          </p:cNvPr>
          <p:cNvSpPr/>
          <p:nvPr/>
        </p:nvSpPr>
        <p:spPr>
          <a:xfrm rot="10800000">
            <a:off x="10470788" y="1793832"/>
            <a:ext cx="1150814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75DFD58D-890E-9549-033C-D9D19DD200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38984" y="1367632"/>
            <a:ext cx="1042516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Process Vendor Payments</a:t>
            </a:r>
          </a:p>
        </p:txBody>
      </p:sp>
      <p:graphicFrame>
        <p:nvGraphicFramePr>
          <p:cNvPr id="243" name="Table 3">
            <a:extLst>
              <a:ext uri="{FF2B5EF4-FFF2-40B4-BE49-F238E27FC236}">
                <a16:creationId xmlns:a16="http://schemas.microsoft.com/office/drawing/2014/main" id="{DB29D982-76D9-AB79-5CE1-05F15E14008B}"/>
              </a:ext>
            </a:extLst>
          </p:cNvPr>
          <p:cNvGraphicFramePr>
            <a:graphicFrameLocks noGrp="1"/>
          </p:cNvGraphicFramePr>
          <p:nvPr/>
        </p:nvGraphicFramePr>
        <p:xfrm>
          <a:off x="3116781" y="2755840"/>
          <a:ext cx="1285150" cy="1799661"/>
        </p:xfrm>
        <a:graphic>
          <a:graphicData uri="http://schemas.openxmlformats.org/drawingml/2006/table">
            <a:tbl>
              <a:tblPr/>
              <a:tblGrid>
                <a:gridCol w="1285150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08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Conduct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Market Analysis &amp; Identify Vendor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48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Conduct E-Bidding/ Float Request for Quotes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04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Conduct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Vendor Evaluation and Selection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</a:tbl>
          </a:graphicData>
        </a:graphic>
      </p:graphicFrame>
      <p:sp>
        <p:nvSpPr>
          <p:cNvPr id="244" name="Oval 243">
            <a:extLst>
              <a:ext uri="{FF2B5EF4-FFF2-40B4-BE49-F238E27FC236}">
                <a16:creationId xmlns:a16="http://schemas.microsoft.com/office/drawing/2014/main" id="{6600E730-B5C4-CEBF-6D2B-EE87B12260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1433" y="1386543"/>
            <a:ext cx="1086495" cy="968016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Initiate Sourcing</a:t>
            </a:r>
          </a:p>
        </p:txBody>
      </p:sp>
      <p:graphicFrame>
        <p:nvGraphicFramePr>
          <p:cNvPr id="245" name="Table 3">
            <a:extLst>
              <a:ext uri="{FF2B5EF4-FFF2-40B4-BE49-F238E27FC236}">
                <a16:creationId xmlns:a16="http://schemas.microsoft.com/office/drawing/2014/main" id="{3114C127-EBF6-DF11-8B75-42B004E21A00}"/>
              </a:ext>
            </a:extLst>
          </p:cNvPr>
          <p:cNvGraphicFramePr>
            <a:graphicFrameLocks noGrp="1"/>
          </p:cNvGraphicFramePr>
          <p:nvPr/>
        </p:nvGraphicFramePr>
        <p:xfrm>
          <a:off x="4402255" y="2755838"/>
          <a:ext cx="1143390" cy="1809292"/>
        </p:xfrm>
        <a:graphic>
          <a:graphicData uri="http://schemas.openxmlformats.org/drawingml/2006/table">
            <a:tbl>
              <a:tblPr/>
              <a:tblGrid>
                <a:gridCol w="1143390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3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Prepare contract structure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77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and Administer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Contract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77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Close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Contract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513429"/>
                  </a:ext>
                </a:extLst>
              </a:tr>
            </a:tbl>
          </a:graphicData>
        </a:graphic>
      </p:graphicFrame>
      <p:graphicFrame>
        <p:nvGraphicFramePr>
          <p:cNvPr id="246" name="Table 3">
            <a:extLst>
              <a:ext uri="{FF2B5EF4-FFF2-40B4-BE49-F238E27FC236}">
                <a16:creationId xmlns:a16="http://schemas.microsoft.com/office/drawing/2014/main" id="{927B6ECE-EBF8-4092-AB70-D9AEB94D3EF4}"/>
              </a:ext>
            </a:extLst>
          </p:cNvPr>
          <p:cNvGraphicFramePr>
            <a:graphicFrameLocks noGrp="1"/>
          </p:cNvGraphicFramePr>
          <p:nvPr/>
        </p:nvGraphicFramePr>
        <p:xfrm>
          <a:off x="5552099" y="2760875"/>
          <a:ext cx="1286064" cy="3019397"/>
        </p:xfrm>
        <a:graphic>
          <a:graphicData uri="http://schemas.openxmlformats.org/drawingml/2006/table">
            <a:tbl>
              <a:tblPr/>
              <a:tblGrid>
                <a:gridCol w="1286064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10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&amp; approve Requisition (PR)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70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&amp; Issue Purchase Order (PO)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00653"/>
                  </a:ext>
                </a:extLst>
              </a:tr>
              <a:tr h="6070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Purchase Order Changes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952988"/>
                  </a:ext>
                </a:extLst>
              </a:tr>
              <a:tr h="6070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Short-Close Purchase Order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023327"/>
                  </a:ext>
                </a:extLst>
              </a:tr>
              <a:tr h="6070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Administer 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Petty Cash Purchases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494897"/>
                  </a:ext>
                </a:extLst>
              </a:tr>
            </a:tbl>
          </a:graphicData>
        </a:graphic>
      </p:graphicFrame>
      <p:graphicFrame>
        <p:nvGraphicFramePr>
          <p:cNvPr id="247" name="Table 3">
            <a:extLst>
              <a:ext uri="{FF2B5EF4-FFF2-40B4-BE49-F238E27FC236}">
                <a16:creationId xmlns:a16="http://schemas.microsoft.com/office/drawing/2014/main" id="{3E5B6F3F-23F6-1C8B-CEFB-57EC96436B66}"/>
              </a:ext>
            </a:extLst>
          </p:cNvPr>
          <p:cNvGraphicFramePr>
            <a:graphicFrameLocks noGrp="1"/>
          </p:cNvGraphicFramePr>
          <p:nvPr/>
        </p:nvGraphicFramePr>
        <p:xfrm>
          <a:off x="6854534" y="2760876"/>
          <a:ext cx="1203656" cy="1799853"/>
        </p:xfrm>
        <a:graphic>
          <a:graphicData uri="http://schemas.openxmlformats.org/drawingml/2006/table">
            <a:tbl>
              <a:tblPr/>
              <a:tblGrid>
                <a:gridCol w="1203656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20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b"/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Receipt and Issue Material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60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lang="en-IN" sz="1100" dirty="0">
                          <a:solidFill>
                            <a:srgbClr val="323232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Item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Returns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1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lang="en-IN" sz="1100" dirty="0">
                          <a:solidFill>
                            <a:srgbClr val="323232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Inventory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</a:tbl>
          </a:graphicData>
        </a:graphic>
      </p:graphicFrame>
      <p:graphicFrame>
        <p:nvGraphicFramePr>
          <p:cNvPr id="248" name="Table 3">
            <a:extLst>
              <a:ext uri="{FF2B5EF4-FFF2-40B4-BE49-F238E27FC236}">
                <a16:creationId xmlns:a16="http://schemas.microsoft.com/office/drawing/2014/main" id="{8C84118A-8618-8D83-D7E1-A80E8EC9B8CC}"/>
              </a:ext>
            </a:extLst>
          </p:cNvPr>
          <p:cNvGraphicFramePr>
            <a:graphicFrameLocks noGrp="1"/>
          </p:cNvGraphicFramePr>
          <p:nvPr/>
        </p:nvGraphicFramePr>
        <p:xfrm>
          <a:off x="10473338" y="2749555"/>
          <a:ext cx="1157319" cy="1201236"/>
        </p:xfrm>
        <a:graphic>
          <a:graphicData uri="http://schemas.openxmlformats.org/drawingml/2006/table">
            <a:tbl>
              <a:tblPr/>
              <a:tblGrid>
                <a:gridCol w="1157319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6006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Prepare and Approve Vendor Payments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06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Release and Confirm Vendor Payments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</a:tbl>
          </a:graphicData>
        </a:graphic>
      </p:graphicFrame>
      <p:graphicFrame>
        <p:nvGraphicFramePr>
          <p:cNvPr id="249" name="Table 3">
            <a:extLst>
              <a:ext uri="{FF2B5EF4-FFF2-40B4-BE49-F238E27FC236}">
                <a16:creationId xmlns:a16="http://schemas.microsoft.com/office/drawing/2014/main" id="{EEBAE2A8-F270-39F6-45F0-7C566788567C}"/>
              </a:ext>
            </a:extLst>
          </p:cNvPr>
          <p:cNvGraphicFramePr>
            <a:graphicFrameLocks noGrp="1"/>
          </p:cNvGraphicFramePr>
          <p:nvPr/>
        </p:nvGraphicFramePr>
        <p:xfrm>
          <a:off x="8070592" y="2760875"/>
          <a:ext cx="1236133" cy="1799853"/>
        </p:xfrm>
        <a:graphic>
          <a:graphicData uri="http://schemas.openxmlformats.org/drawingml/2006/table">
            <a:tbl>
              <a:tblPr/>
              <a:tblGrid>
                <a:gridCol w="1236133">
                  <a:extLst>
                    <a:ext uri="{9D8B030D-6E8A-4147-A177-3AD203B41FA5}">
                      <a16:colId xmlns:a16="http://schemas.microsoft.com/office/drawing/2014/main" val="4014281573"/>
                    </a:ext>
                  </a:extLst>
                </a:gridCol>
              </a:tblGrid>
              <a:tr h="5920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Track and Maintain </a:t>
                      </a:r>
                      <a:r>
                        <a:rPr lang="en-GB" sz="1100" dirty="0">
                          <a:latin typeface="Aptos" panose="020B0004020202020204" pitchFamily="34" charset="0"/>
                        </a:rPr>
                        <a:t>Assets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04086"/>
                  </a:ext>
                </a:extLst>
              </a:tr>
              <a:tr h="6060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Transfer Assets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54451"/>
                  </a:ext>
                </a:extLst>
              </a:tr>
              <a:tr h="601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lang="en-GB" sz="1100" dirty="0">
                          <a:latin typeface="Aptos" panose="020B0004020202020204" pitchFamily="34" charset="0"/>
                        </a:rPr>
                        <a:t>Asset Disposal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29576"/>
                  </a:ext>
                </a:extLst>
              </a:tr>
            </a:tbl>
          </a:graphicData>
        </a:graphic>
      </p:graphicFrame>
      <p:sp>
        <p:nvSpPr>
          <p:cNvPr id="250" name="Flowchart: Manual Operation 249">
            <a:extLst>
              <a:ext uri="{FF2B5EF4-FFF2-40B4-BE49-F238E27FC236}">
                <a16:creationId xmlns:a16="http://schemas.microsoft.com/office/drawing/2014/main" id="{C9E6A1EB-8288-BB49-EB46-5AF87A7F3D78}"/>
              </a:ext>
            </a:extLst>
          </p:cNvPr>
          <p:cNvSpPr/>
          <p:nvPr/>
        </p:nvSpPr>
        <p:spPr>
          <a:xfrm rot="10800000">
            <a:off x="8087174" y="1787344"/>
            <a:ext cx="1199602" cy="952122"/>
          </a:xfrm>
          <a:prstGeom prst="flowChartManualOperation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04340CC8-262F-D08A-A978-5445838975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28360" y="1367632"/>
            <a:ext cx="1091711" cy="1005840"/>
          </a:xfrm>
          <a:prstGeom prst="ellipse">
            <a:avLst/>
          </a:prstGeom>
          <a:solidFill>
            <a:sysClr val="window" lastClr="FFFFFF"/>
          </a:solidFill>
          <a:ln w="76200">
            <a:solidFill>
              <a:srgbClr val="4472C4">
                <a:lumMod val="60000"/>
                <a:lumOff val="40000"/>
              </a:srgb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Manage Assets</a:t>
            </a:r>
          </a:p>
        </p:txBody>
      </p:sp>
      <p:pic>
        <p:nvPicPr>
          <p:cNvPr id="252" name="Picture 251">
            <a:extLst>
              <a:ext uri="{FF2B5EF4-FFF2-40B4-BE49-F238E27FC236}">
                <a16:creationId xmlns:a16="http://schemas.microsoft.com/office/drawing/2014/main" id="{5FD0C720-33E9-23EC-9491-E5C30D392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13" y="3119684"/>
            <a:ext cx="202322" cy="208849"/>
          </a:xfrm>
          <a:prstGeom prst="rect">
            <a:avLst/>
          </a:prstGeom>
          <a:noFill/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37985F72-9D99-00DA-0B7B-88A76FC9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114" y="3141324"/>
            <a:ext cx="202322" cy="208849"/>
          </a:xfrm>
          <a:prstGeom prst="rect">
            <a:avLst/>
          </a:prstGeom>
          <a:noFill/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09D98C4F-60FB-3A7A-88D4-CC44779A1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796" y="3730622"/>
            <a:ext cx="202322" cy="208849"/>
          </a:xfrm>
          <a:prstGeom prst="rect">
            <a:avLst/>
          </a:prstGeom>
          <a:noFill/>
        </p:spPr>
      </p:pic>
      <p:pic>
        <p:nvPicPr>
          <p:cNvPr id="255" name="Picture 254">
            <a:extLst>
              <a:ext uri="{FF2B5EF4-FFF2-40B4-BE49-F238E27FC236}">
                <a16:creationId xmlns:a16="http://schemas.microsoft.com/office/drawing/2014/main" id="{5181F31F-0538-8C1D-1427-A86E4C30A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114" y="4948130"/>
            <a:ext cx="202322" cy="208849"/>
          </a:xfrm>
          <a:prstGeom prst="rect">
            <a:avLst/>
          </a:prstGeom>
          <a:noFill/>
        </p:spPr>
      </p:pic>
      <p:pic>
        <p:nvPicPr>
          <p:cNvPr id="256" name="Picture 255">
            <a:extLst>
              <a:ext uri="{FF2B5EF4-FFF2-40B4-BE49-F238E27FC236}">
                <a16:creationId xmlns:a16="http://schemas.microsoft.com/office/drawing/2014/main" id="{F7F79790-DC43-6A2D-18B0-524874125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15" y="6414364"/>
            <a:ext cx="202322" cy="208849"/>
          </a:xfrm>
          <a:prstGeom prst="rect">
            <a:avLst/>
          </a:prstGeom>
          <a:noFill/>
        </p:spPr>
      </p:pic>
      <p:sp>
        <p:nvSpPr>
          <p:cNvPr id="257" name="TextBox 256">
            <a:extLst>
              <a:ext uri="{FF2B5EF4-FFF2-40B4-BE49-F238E27FC236}">
                <a16:creationId xmlns:a16="http://schemas.microsoft.com/office/drawing/2014/main" id="{25614CDB-DF7F-557A-FCE5-091E949A7115}"/>
              </a:ext>
            </a:extLst>
          </p:cNvPr>
          <p:cNvSpPr txBox="1"/>
          <p:nvPr/>
        </p:nvSpPr>
        <p:spPr>
          <a:xfrm>
            <a:off x="937836" y="6385180"/>
            <a:ext cx="1620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Oracle fusion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783C6E28-FD6D-92C5-9D95-8EA822694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952" y="3141324"/>
            <a:ext cx="202322" cy="208849"/>
          </a:xfrm>
          <a:prstGeom prst="rect">
            <a:avLst/>
          </a:prstGeom>
          <a:noFill/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7C3A758F-2CC5-58C1-9E68-6A66C1503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776" y="3741942"/>
            <a:ext cx="202322" cy="208849"/>
          </a:xfrm>
          <a:prstGeom prst="rect">
            <a:avLst/>
          </a:prstGeom>
          <a:noFill/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FF483386-59B1-22AB-CFB7-4B7AE21C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349" y="3141323"/>
            <a:ext cx="202322" cy="208849"/>
          </a:xfrm>
          <a:prstGeom prst="rect">
            <a:avLst/>
          </a:prstGeom>
          <a:noFill/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BB559240-C679-1385-D5A2-9E9C112E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79" y="3141322"/>
            <a:ext cx="202322" cy="208849"/>
          </a:xfrm>
          <a:prstGeom prst="rect">
            <a:avLst/>
          </a:prstGeom>
          <a:noFill/>
        </p:spPr>
      </p:pic>
      <p:pic>
        <p:nvPicPr>
          <p:cNvPr id="262" name="Graphic 261" descr="Head with gears with solid fill">
            <a:extLst>
              <a:ext uri="{FF2B5EF4-FFF2-40B4-BE49-F238E27FC236}">
                <a16:creationId xmlns:a16="http://schemas.microsoft.com/office/drawing/2014/main" id="{96358530-0096-E0D8-7375-22F979FC2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1998" y="6365857"/>
            <a:ext cx="284683" cy="284683"/>
          </a:xfrm>
          <a:prstGeom prst="rect">
            <a:avLst/>
          </a:prstGeom>
        </p:spPr>
      </p:pic>
      <p:sp>
        <p:nvSpPr>
          <p:cNvPr id="263" name="TextBox 262">
            <a:extLst>
              <a:ext uri="{FF2B5EF4-FFF2-40B4-BE49-F238E27FC236}">
                <a16:creationId xmlns:a16="http://schemas.microsoft.com/office/drawing/2014/main" id="{34FB96EE-3DAB-0A88-E228-C217EC312453}"/>
              </a:ext>
            </a:extLst>
          </p:cNvPr>
          <p:cNvSpPr txBox="1"/>
          <p:nvPr/>
        </p:nvSpPr>
        <p:spPr>
          <a:xfrm>
            <a:off x="2196608" y="6393449"/>
            <a:ext cx="199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Potential Agentic AI use case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4" name="Graphic 263" descr="Head with gears with solid fill">
            <a:extLst>
              <a:ext uri="{FF2B5EF4-FFF2-40B4-BE49-F238E27FC236}">
                <a16:creationId xmlns:a16="http://schemas.microsoft.com/office/drawing/2014/main" id="{DD5A7A19-4DF2-B5D4-19CA-9F923E0930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5534" y="3704024"/>
            <a:ext cx="284683" cy="284683"/>
          </a:xfrm>
          <a:prstGeom prst="rect">
            <a:avLst/>
          </a:prstGeom>
        </p:spPr>
      </p:pic>
      <p:pic>
        <p:nvPicPr>
          <p:cNvPr id="265" name="Graphic 264" descr="Head with gears with solid fill">
            <a:extLst>
              <a:ext uri="{FF2B5EF4-FFF2-40B4-BE49-F238E27FC236}">
                <a16:creationId xmlns:a16="http://schemas.microsoft.com/office/drawing/2014/main" id="{63DCFF5B-0098-219E-53EF-D61A58F1C4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0350" y="4299455"/>
            <a:ext cx="284683" cy="284683"/>
          </a:xfrm>
          <a:prstGeom prst="rect">
            <a:avLst/>
          </a:prstGeom>
        </p:spPr>
      </p:pic>
      <p:pic>
        <p:nvPicPr>
          <p:cNvPr id="266" name="Graphic 265" descr="Head with gears with solid fill">
            <a:extLst>
              <a:ext uri="{FF2B5EF4-FFF2-40B4-BE49-F238E27FC236}">
                <a16:creationId xmlns:a16="http://schemas.microsoft.com/office/drawing/2014/main" id="{EDD91A1D-98B0-F4F8-243F-179E87176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0349" y="4928362"/>
            <a:ext cx="284683" cy="284683"/>
          </a:xfrm>
          <a:prstGeom prst="rect">
            <a:avLst/>
          </a:prstGeom>
        </p:spPr>
      </p:pic>
      <p:pic>
        <p:nvPicPr>
          <p:cNvPr id="267" name="Graphic 266" descr="Head with gears with solid fill">
            <a:extLst>
              <a:ext uri="{FF2B5EF4-FFF2-40B4-BE49-F238E27FC236}">
                <a16:creationId xmlns:a16="http://schemas.microsoft.com/office/drawing/2014/main" id="{53E94545-C501-3C7A-88C3-A6E556F5A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5670" y="5525963"/>
            <a:ext cx="284683" cy="284683"/>
          </a:xfrm>
          <a:prstGeom prst="rect">
            <a:avLst/>
          </a:prstGeom>
        </p:spPr>
      </p:pic>
      <p:pic>
        <p:nvPicPr>
          <p:cNvPr id="268" name="Graphic 267" descr="Head with gears with solid fill">
            <a:extLst>
              <a:ext uri="{FF2B5EF4-FFF2-40B4-BE49-F238E27FC236}">
                <a16:creationId xmlns:a16="http://schemas.microsoft.com/office/drawing/2014/main" id="{B7B9AB89-D536-F4BA-C372-1F09EE80B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8181" y="3691570"/>
            <a:ext cx="284683" cy="284683"/>
          </a:xfrm>
          <a:prstGeom prst="rect">
            <a:avLst/>
          </a:prstGeom>
        </p:spPr>
      </p:pic>
      <p:pic>
        <p:nvPicPr>
          <p:cNvPr id="270" name="Graphic 269" descr="Head with gears with solid fill">
            <a:extLst>
              <a:ext uri="{FF2B5EF4-FFF2-40B4-BE49-F238E27FC236}">
                <a16:creationId xmlns:a16="http://schemas.microsoft.com/office/drawing/2014/main" id="{93DBB495-4713-BF58-6C8A-3F592D904D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9907" y="3083986"/>
            <a:ext cx="284683" cy="284683"/>
          </a:xfrm>
          <a:prstGeom prst="rect">
            <a:avLst/>
          </a:prstGeom>
        </p:spPr>
      </p:pic>
      <p:graphicFrame>
        <p:nvGraphicFramePr>
          <p:cNvPr id="281" name="Object 280">
            <a:extLst>
              <a:ext uri="{FF2B5EF4-FFF2-40B4-BE49-F238E27FC236}">
                <a16:creationId xmlns:a16="http://schemas.microsoft.com/office/drawing/2014/main" id="{E34BF880-1AFA-6711-31A2-CBA71D3C62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24850" y="4730002"/>
          <a:ext cx="852805" cy="1206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4533530" imgH="6415758" progId="Acrobat.Document.DC">
                  <p:embed/>
                </p:oleObj>
              </mc:Choice>
              <mc:Fallback>
                <p:oleObj name="Acrobat Document" r:id="rId4" imgW="4533530" imgH="6415758" progId="Acrobat.Document.DC">
                  <p:embed/>
                  <p:pic>
                    <p:nvPicPr>
                      <p:cNvPr id="281" name="Object 280">
                        <a:extLst>
                          <a:ext uri="{FF2B5EF4-FFF2-40B4-BE49-F238E27FC236}">
                            <a16:creationId xmlns:a16="http://schemas.microsoft.com/office/drawing/2014/main" id="{E34BF880-1AFA-6711-31A2-CBA71D3C62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24850" y="4730002"/>
                        <a:ext cx="852805" cy="1206648"/>
                      </a:xfrm>
                      <a:prstGeom prst="rect">
                        <a:avLst/>
                      </a:prstGeom>
                      <a:ln w="28575">
                        <a:solidFill>
                          <a:srgbClr val="5B9BD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" name="TextBox 281">
            <a:extLst>
              <a:ext uri="{FF2B5EF4-FFF2-40B4-BE49-F238E27FC236}">
                <a16:creationId xmlns:a16="http://schemas.microsoft.com/office/drawing/2014/main" id="{F24469D3-AF92-539C-9261-022D136FCC3C}"/>
              </a:ext>
            </a:extLst>
          </p:cNvPr>
          <p:cNvSpPr txBox="1"/>
          <p:nvPr/>
        </p:nvSpPr>
        <p:spPr>
          <a:xfrm>
            <a:off x="9913344" y="6034082"/>
            <a:ext cx="18686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u="sng" dirty="0">
                <a:solidFill>
                  <a:prstClr val="black"/>
                </a:solidFill>
                <a:latin typeface="Calibri" panose="020F0502020204030204"/>
              </a:rPr>
              <a:t>General Procurement Policy</a:t>
            </a:r>
            <a:endParaRPr lang="en-US" sz="1100" b="1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" name="Graphic 1" descr="Head with gears with solid fill">
            <a:extLst>
              <a:ext uri="{FF2B5EF4-FFF2-40B4-BE49-F238E27FC236}">
                <a16:creationId xmlns:a16="http://schemas.microsoft.com/office/drawing/2014/main" id="{C596C2B2-E6E7-EDDB-AC95-B223B70E6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5913" y="3666108"/>
            <a:ext cx="284683" cy="284683"/>
          </a:xfrm>
          <a:prstGeom prst="rect">
            <a:avLst/>
          </a:prstGeom>
        </p:spPr>
      </p:pic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D017285F-07C2-8CAE-5FD8-A8E5838C1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835" y="4287199"/>
            <a:ext cx="284683" cy="28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9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9BFC-7014-3E66-86D0-7ECEAA90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F1B54C-DD13-E585-F2E7-1D36AE7766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1F1F1F"/>
                </a:solidFill>
                <a:latin typeface="Calibri" panose="020F0502020204030204"/>
              </a:rPr>
              <a:t>This helps operationalise missing/broken elements in our S2C cycle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1A55E-7D46-DA17-EF97-1B3446FBD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7" y="1230123"/>
            <a:ext cx="11987105" cy="542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691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313AA-325C-3FC9-7C34-FB7E1781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BED57-77FE-4035-55FC-9BA2F1350A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1F1F"/>
                </a:solidFill>
                <a:latin typeface="Calibri" panose="020F0502020204030204"/>
              </a:rPr>
              <a:t>Potential workflow with Agentic solution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6A5F0-D925-0B1E-F92D-A148BFC15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0" y="1283553"/>
            <a:ext cx="11369670" cy="499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6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717F7-8D9F-EE8F-EF77-FE29EF0F2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B65DEE-AB6F-C81A-D5A5-223A8314E4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1F1F"/>
                </a:solidFill>
                <a:latin typeface="Calibri" panose="020F0502020204030204"/>
              </a:rPr>
              <a:t>Next Steps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A85FA12-CC3E-2827-60C9-FEAF9A99C19C}"/>
              </a:ext>
            </a:extLst>
          </p:cNvPr>
          <p:cNvSpPr/>
          <p:nvPr/>
        </p:nvSpPr>
        <p:spPr>
          <a:xfrm>
            <a:off x="477520" y="1249680"/>
            <a:ext cx="3322320" cy="58477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Proof of Concept</a:t>
            </a:r>
            <a:endParaRPr lang="en-US" dirty="0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C2EF7B58-8051-37AB-8924-CDDB2E846471}"/>
              </a:ext>
            </a:extLst>
          </p:cNvPr>
          <p:cNvSpPr/>
          <p:nvPr/>
        </p:nvSpPr>
        <p:spPr>
          <a:xfrm>
            <a:off x="4236722" y="1249680"/>
            <a:ext cx="3322320" cy="584775"/>
          </a:xfrm>
          <a:prstGeom prst="homePlat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Pilot Implementation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FAE8B16-7944-B1E2-D298-AFE161377514}"/>
              </a:ext>
            </a:extLst>
          </p:cNvPr>
          <p:cNvSpPr/>
          <p:nvPr/>
        </p:nvSpPr>
        <p:spPr>
          <a:xfrm>
            <a:off x="8168640" y="1249680"/>
            <a:ext cx="3322320" cy="584775"/>
          </a:xfrm>
          <a:prstGeom prst="homePlat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Expand and Scale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82F275-18B0-8E84-97E1-468053986965}"/>
              </a:ext>
            </a:extLst>
          </p:cNvPr>
          <p:cNvSpPr txBox="1"/>
          <p:nvPr/>
        </p:nvSpPr>
        <p:spPr>
          <a:xfrm>
            <a:off x="680720" y="1923237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/>
              <a:t>1 week, No Cost</a:t>
            </a:r>
            <a:endParaRPr lang="en-US" sz="14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0289E-27F2-0012-E5F2-CC6C537A5395}"/>
              </a:ext>
            </a:extLst>
          </p:cNvPr>
          <p:cNvSpPr txBox="1"/>
          <p:nvPr/>
        </p:nvSpPr>
        <p:spPr>
          <a:xfrm>
            <a:off x="4348480" y="1923237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/>
              <a:t>8 weeks, AED 50K</a:t>
            </a:r>
            <a:endParaRPr lang="en-US" sz="1400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CF38E2-0CD6-6002-3C4E-B60C740CF58A}"/>
              </a:ext>
            </a:extLst>
          </p:cNvPr>
          <p:cNvSpPr txBox="1"/>
          <p:nvPr/>
        </p:nvSpPr>
        <p:spPr>
          <a:xfrm>
            <a:off x="8168640" y="1923237"/>
            <a:ext cx="3068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/>
              <a:t>9-12 months, Annual subscription, AED 400K/year</a:t>
            </a:r>
            <a:endParaRPr lang="en-US" sz="1400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24FAD0-D76C-A7EE-E762-7C000091B9EC}"/>
              </a:ext>
            </a:extLst>
          </p:cNvPr>
          <p:cNvSpPr txBox="1"/>
          <p:nvPr/>
        </p:nvSpPr>
        <p:spPr>
          <a:xfrm>
            <a:off x="426719" y="2526249"/>
            <a:ext cx="3596641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Standalone Procure Ai demo environment — </a:t>
            </a:r>
            <a:r>
              <a:rPr lang="en-US" sz="1400" b="1" dirty="0"/>
              <a:t>no Oracle integration </a:t>
            </a:r>
            <a:r>
              <a:rPr lang="en-US" sz="1400" dirty="0"/>
              <a:t>or live DAMAC data connection required.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Fully hosted and facilitated by Procure Ai, with dedicated onboarding support and scenario walkthroughs tailored to DAMAC's procurement context.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Covers the following Procure Ai agents and capabilities 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Purchasing Requisition Agent 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Guided Buying agent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Sourcing Agent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Negotiation Agent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Agent Builder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Purchasing assistant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Supplier onboarding will be out of scope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52D775-88CC-9E16-B9F9-92578ACFFC41}"/>
              </a:ext>
            </a:extLst>
          </p:cNvPr>
          <p:cNvSpPr txBox="1"/>
          <p:nvPr/>
        </p:nvSpPr>
        <p:spPr>
          <a:xfrm>
            <a:off x="4208564" y="2526249"/>
            <a:ext cx="3596641" cy="323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PoC hosted on DAMAC environment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Integrations built with Oracle.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Continuous data extraction from source systems to Procure AI.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Data model deployed and  validation rules in place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Connection of enrichers and setup of initial autonomous rule framework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Business validation workshops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Value realization workshops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Technical Documentation created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2C290D-0D77-428B-BC20-9EFE621375C7}"/>
              </a:ext>
            </a:extLst>
          </p:cNvPr>
          <p:cNvSpPr txBox="1"/>
          <p:nvPr/>
        </p:nvSpPr>
        <p:spPr>
          <a:xfrm>
            <a:off x="7990409" y="2526249"/>
            <a:ext cx="3596641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Expand across categories and use cases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Increase automation scope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Continuous optimization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Potential full process integration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Continuous value delivery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1937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43F8-EBAD-07DB-C919-7AD57B1E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CC9230-9D16-D427-DFBB-0441E756E0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1F1F"/>
                </a:solidFill>
                <a:latin typeface="Calibri" panose="020F0502020204030204"/>
              </a:rPr>
              <a:t>Identified Agentic AI use cases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FEB611-8096-6E49-0DED-F68859A4D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1" y="1374793"/>
            <a:ext cx="3595430" cy="9420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D7C7F2-FBBB-9899-24B3-A924A6513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1" y="2744886"/>
            <a:ext cx="3176588" cy="920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33E00B-9574-6E0E-3113-A19CA18F9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604" y="1439464"/>
            <a:ext cx="8427396" cy="2392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F6C49-2B26-A3A0-BFF4-A4AC1481F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714" y="4741092"/>
            <a:ext cx="2996119" cy="1880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C272E1-1C63-FB7A-1F32-98FD4FBD8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2882" y="4599010"/>
            <a:ext cx="7899802" cy="21162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6FFFF9-D620-0E65-E9B7-BD047B013D04}"/>
              </a:ext>
            </a:extLst>
          </p:cNvPr>
          <p:cNvSpPr txBox="1"/>
          <p:nvPr/>
        </p:nvSpPr>
        <p:spPr>
          <a:xfrm>
            <a:off x="1" y="865762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Use case #1 - Intake management – From manual data entry to AI driven demand orchestration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005A6-86A9-728F-8362-FA839735D222}"/>
              </a:ext>
            </a:extLst>
          </p:cNvPr>
          <p:cNvSpPr txBox="1"/>
          <p:nvPr/>
        </p:nvSpPr>
        <p:spPr>
          <a:xfrm>
            <a:off x="0" y="4121580"/>
            <a:ext cx="1205090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Use Case #2- First level sourcing negotiations- Ai enabled rate levelling </a:t>
            </a:r>
            <a:r>
              <a:rPr lang="en-GB" i="1" dirty="0" err="1">
                <a:solidFill>
                  <a:schemeClr val="bg1"/>
                </a:solidFill>
              </a:rPr>
              <a:t>negotations</a:t>
            </a:r>
            <a:endParaRPr lang="en-US" i="1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644ADC-1120-27D9-20BD-748C5E14DFDB}"/>
              </a:ext>
            </a:extLst>
          </p:cNvPr>
          <p:cNvGrpSpPr/>
          <p:nvPr/>
        </p:nvGrpSpPr>
        <p:grpSpPr>
          <a:xfrm>
            <a:off x="9747116" y="93832"/>
            <a:ext cx="2349163" cy="351602"/>
            <a:chOff x="8284079" y="803889"/>
            <a:chExt cx="3812199" cy="455434"/>
          </a:xfrm>
        </p:grpSpPr>
        <p:sp>
          <p:nvSpPr>
            <p:cNvPr id="11" name="Shape 91">
              <a:extLst>
                <a:ext uri="{FF2B5EF4-FFF2-40B4-BE49-F238E27FC236}">
                  <a16:creationId xmlns:a16="http://schemas.microsoft.com/office/drawing/2014/main" id="{2CBDE4FF-AAEE-653A-DEEE-B16DF0BFA1AE}"/>
                </a:ext>
              </a:extLst>
            </p:cNvPr>
            <p:cNvSpPr/>
            <p:nvPr/>
          </p:nvSpPr>
          <p:spPr>
            <a:xfrm>
              <a:off x="8284079" y="803889"/>
              <a:ext cx="3812199" cy="455434"/>
            </a:xfrm>
            <a:prstGeom prst="rect">
              <a:avLst/>
            </a:prstGeom>
            <a:solidFill>
              <a:srgbClr val="C0622B"/>
            </a:solidFill>
            <a:ln w="12700">
              <a:solidFill>
                <a:srgbClr val="C0622B"/>
              </a:solidFill>
              <a:prstDash val="solid"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2" name="Shape 92">
              <a:extLst>
                <a:ext uri="{FF2B5EF4-FFF2-40B4-BE49-F238E27FC236}">
                  <a16:creationId xmlns:a16="http://schemas.microsoft.com/office/drawing/2014/main" id="{2B28168A-01C4-F876-BEBE-FD6E7E40E159}"/>
                </a:ext>
              </a:extLst>
            </p:cNvPr>
            <p:cNvSpPr/>
            <p:nvPr/>
          </p:nvSpPr>
          <p:spPr>
            <a:xfrm>
              <a:off x="8284079" y="803889"/>
              <a:ext cx="495091" cy="455434"/>
            </a:xfrm>
            <a:prstGeom prst="rect">
              <a:avLst/>
            </a:prstGeom>
            <a:solidFill>
              <a:srgbClr val="1A202C"/>
            </a:solidFill>
            <a:ln w="12700">
              <a:solidFill>
                <a:srgbClr val="1A202C"/>
              </a:solidFill>
              <a:prstDash val="solid"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3" name="Text 93">
              <a:extLst>
                <a:ext uri="{FF2B5EF4-FFF2-40B4-BE49-F238E27FC236}">
                  <a16:creationId xmlns:a16="http://schemas.microsoft.com/office/drawing/2014/main" id="{A8113983-3383-1778-9FC9-635C887C2597}"/>
                </a:ext>
              </a:extLst>
            </p:cNvPr>
            <p:cNvSpPr/>
            <p:nvPr/>
          </p:nvSpPr>
          <p:spPr>
            <a:xfrm>
              <a:off x="8284079" y="803889"/>
              <a:ext cx="495091" cy="455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14" name="Text 94">
              <a:extLst>
                <a:ext uri="{FF2B5EF4-FFF2-40B4-BE49-F238E27FC236}">
                  <a16:creationId xmlns:a16="http://schemas.microsoft.com/office/drawing/2014/main" id="{8282B253-D207-A9C7-CB96-003C17EEAA9D}"/>
                </a:ext>
              </a:extLst>
            </p:cNvPr>
            <p:cNvSpPr/>
            <p:nvPr/>
          </p:nvSpPr>
          <p:spPr>
            <a:xfrm>
              <a:off x="8853434" y="803889"/>
              <a:ext cx="3143826" cy="455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Operating Model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69477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67B5-C5AD-FEE4-B684-26D67959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AD4AC1-03FC-11F4-C92D-F5D11C9C33A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1F1F"/>
                </a:solidFill>
                <a:latin typeface="Calibri" panose="020F0502020204030204"/>
              </a:rPr>
              <a:t>Oracle fixes identified by Deloitte (1/2)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3D1276F-F07B-AB88-B373-05AD4EAED209}"/>
              </a:ext>
            </a:extLst>
          </p:cNvPr>
          <p:cNvGraphicFramePr>
            <a:graphicFrameLocks noGrp="1"/>
          </p:cNvGraphicFramePr>
          <p:nvPr/>
        </p:nvGraphicFramePr>
        <p:xfrm>
          <a:off x="118408" y="791566"/>
          <a:ext cx="11955184" cy="5667654"/>
        </p:xfrm>
        <a:graphic>
          <a:graphicData uri="http://schemas.openxmlformats.org/drawingml/2006/table">
            <a:tbl>
              <a:tblPr firstRow="1" bandRow="1"/>
              <a:tblGrid>
                <a:gridCol w="1306705">
                  <a:extLst>
                    <a:ext uri="{9D8B030D-6E8A-4147-A177-3AD203B41FA5}">
                      <a16:colId xmlns:a16="http://schemas.microsoft.com/office/drawing/2014/main" val="3828968158"/>
                    </a:ext>
                  </a:extLst>
                </a:gridCol>
                <a:gridCol w="3995057">
                  <a:extLst>
                    <a:ext uri="{9D8B030D-6E8A-4147-A177-3AD203B41FA5}">
                      <a16:colId xmlns:a16="http://schemas.microsoft.com/office/drawing/2014/main" val="2540550573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733728793"/>
                    </a:ext>
                  </a:extLst>
                </a:gridCol>
                <a:gridCol w="2886965">
                  <a:extLst>
                    <a:ext uri="{9D8B030D-6E8A-4147-A177-3AD203B41FA5}">
                      <a16:colId xmlns:a16="http://schemas.microsoft.com/office/drawing/2014/main" val="1488654543"/>
                    </a:ext>
                  </a:extLst>
                </a:gridCol>
              </a:tblGrid>
              <a:tr h="4885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Process- Sub process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A5A5A5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dirty="0"/>
                        <a:t>Requirement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A5A5A5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dirty="0"/>
                        <a:t>Remarks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A5A5A5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dirty="0"/>
                        <a:t>Business Benefits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A5A5A5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833632"/>
                  </a:ext>
                </a:extLst>
              </a:tr>
              <a:tr h="59473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Manage Vendors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Register </a:t>
                      </a: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Vendor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GB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Mandatory details are should be captured in all source systems and documents are available in each vendor record in vendor master.</a:t>
                      </a:r>
                      <a:r>
                        <a:rPr lang="en-GB" sz="12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1" u="sng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(BRD Complete)</a:t>
                      </a:r>
                      <a:endParaRPr lang="en-US" sz="1200" b="1" u="sng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6350" marT="63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GB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 self service portal could be the primary mode of vendor registrations and integrations between SF and </a:t>
                      </a:r>
                      <a:r>
                        <a:rPr lang="en-GB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PMWeb</a:t>
                      </a:r>
                      <a:r>
                        <a:rPr lang="en-GB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working seamlessly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GB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Clean vendor master with assigned responsibilities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483069"/>
                  </a:ext>
                </a:extLst>
              </a:tr>
              <a:tr h="37123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23232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 automatic notifications to Supplier </a:t>
                      </a:r>
                      <a:r>
                        <a:rPr kumimoji="0" lang="en-GB" sz="12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(BRD Complete)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7150" marR="6350" marT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Mail is sent to Supplier/Supplier Portal activation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The suppliers are notified on the timely basis 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958243"/>
                  </a:ext>
                </a:extLst>
              </a:tr>
              <a:tr h="7476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Develop Sourcing Strategy &amp; Planning</a:t>
                      </a:r>
                      <a:endParaRPr lang="en-US" sz="1200" b="1" kern="0" dirty="0">
                        <a:solidFill>
                          <a:prstClr val="black"/>
                        </a:solidFill>
                        <a:latin typeface="Aptos" panose="020B0004020202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Manage </a:t>
                      </a: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item / service Master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Missing Item and Service catalogue</a:t>
                      </a:r>
                    </a:p>
                    <a:p>
                      <a:pPr marL="0" algn="l" defTabSz="914400" rtl="0" eaLnBrk="1" fontAlgn="ctr" latinLnBrk="0" hangingPunct="1"/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sng" dirty="0">
                          <a:latin typeface="Arial"/>
                          <a:cs typeface="Arial"/>
                        </a:rPr>
                        <a:t>Agentic AI use case</a:t>
                      </a:r>
                    </a:p>
                  </a:txBody>
                  <a:tcPr marL="57150" marR="6350" marT="63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This includes implementation of 3 new modules 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Product Management (Item Master Management) / Inventory Module / Costing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Proper Item and pricing can be maintained in the system which ensures uniformity, better tracking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45206"/>
                  </a:ext>
                </a:extLst>
              </a:tr>
              <a:tr h="519729">
                <a:tc row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Manage Requisitions and Orders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&amp; approve Requisition (PR)</a:t>
                      </a:r>
                      <a:endParaRPr lang="en-US" sz="12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Business wise PR visibility is missing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7150" marR="6350" marT="63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PRs are created under a single Business unit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sz="1200" dirty="0"/>
                        <a:t>Helps to segregate PRs based on Business Unit this ensuring better maintenance and tracking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287559"/>
                  </a:ext>
                </a:extLst>
              </a:tr>
              <a:tr h="519729">
                <a:tc v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No visibility on PR approval cycle and approved PR not reflected in system on real-time basis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Purchase Requisition Dashboard need to be built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Dashboard helps up check the status in real-time thus enabling better decision making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42219"/>
                  </a:ext>
                </a:extLst>
              </a:tr>
              <a:tr h="519729">
                <a:tc v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System allows end users to assign PR to Buyers those who have left the organization.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6350" marT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Deactivation of the User account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Deactivation of Ex-employees with help in Data filtration and prevent manual mistakes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875407"/>
                  </a:ext>
                </a:extLst>
              </a:tr>
              <a:tr h="4325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PRs are manually assigned to buyers on daily basis by admin team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PRs can be assigned to Buyers using Buyer assignment rules.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Automatic assignment ensures error free, reduced effort by admin team 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32883"/>
                  </a:ext>
                </a:extLst>
              </a:tr>
              <a:tr h="636255">
                <a:tc v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33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Duplicity in weekly PR to PO report - Same PR number reflected multiple times</a:t>
                      </a:r>
                    </a:p>
                    <a:p>
                      <a:pPr algn="l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One to many relationship for PR to PO is leading to incorrect amount adjustments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7150" marR="6350" marT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dirty="0"/>
                        <a:t>Grouping of PR can be stopped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045625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040D7AC-69DE-87C7-A46C-3B7FBF9EFD75}"/>
              </a:ext>
            </a:extLst>
          </p:cNvPr>
          <p:cNvSpPr/>
          <p:nvPr/>
        </p:nvSpPr>
        <p:spPr>
          <a:xfrm>
            <a:off x="118408" y="6547395"/>
            <a:ext cx="1982820" cy="226081"/>
          </a:xfrm>
          <a:prstGeom prst="rect">
            <a:avLst/>
          </a:prstGeom>
          <a:solidFill>
            <a:srgbClr val="70AD47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Being serviced through demand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4E232F-73BF-09E2-348E-4CC9AF4D4151}"/>
              </a:ext>
            </a:extLst>
          </p:cNvPr>
          <p:cNvGrpSpPr/>
          <p:nvPr/>
        </p:nvGrpSpPr>
        <p:grpSpPr>
          <a:xfrm>
            <a:off x="9747116" y="83672"/>
            <a:ext cx="2349163" cy="351602"/>
            <a:chOff x="8284079" y="803889"/>
            <a:chExt cx="3812199" cy="455434"/>
          </a:xfrm>
        </p:grpSpPr>
        <p:sp>
          <p:nvSpPr>
            <p:cNvPr id="17" name="Shape 91">
              <a:extLst>
                <a:ext uri="{FF2B5EF4-FFF2-40B4-BE49-F238E27FC236}">
                  <a16:creationId xmlns:a16="http://schemas.microsoft.com/office/drawing/2014/main" id="{8A237A60-D892-327E-6D5F-7052E2633732}"/>
                </a:ext>
              </a:extLst>
            </p:cNvPr>
            <p:cNvSpPr/>
            <p:nvPr/>
          </p:nvSpPr>
          <p:spPr>
            <a:xfrm>
              <a:off x="8284079" y="803889"/>
              <a:ext cx="3812199" cy="455434"/>
            </a:xfrm>
            <a:prstGeom prst="rect">
              <a:avLst/>
            </a:prstGeom>
            <a:solidFill>
              <a:srgbClr val="C0622B"/>
            </a:solidFill>
            <a:ln w="12700">
              <a:solidFill>
                <a:srgbClr val="C0622B"/>
              </a:solidFill>
              <a:prstDash val="solid"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8" name="Shape 92">
              <a:extLst>
                <a:ext uri="{FF2B5EF4-FFF2-40B4-BE49-F238E27FC236}">
                  <a16:creationId xmlns:a16="http://schemas.microsoft.com/office/drawing/2014/main" id="{70694409-0FB0-BCA8-03C7-34238D73B084}"/>
                </a:ext>
              </a:extLst>
            </p:cNvPr>
            <p:cNvSpPr/>
            <p:nvPr/>
          </p:nvSpPr>
          <p:spPr>
            <a:xfrm>
              <a:off x="8284079" y="803889"/>
              <a:ext cx="495091" cy="455434"/>
            </a:xfrm>
            <a:prstGeom prst="rect">
              <a:avLst/>
            </a:prstGeom>
            <a:solidFill>
              <a:srgbClr val="1A202C"/>
            </a:solidFill>
            <a:ln w="12700">
              <a:solidFill>
                <a:srgbClr val="1A202C"/>
              </a:solidFill>
              <a:prstDash val="solid"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9" name="Text 93">
              <a:extLst>
                <a:ext uri="{FF2B5EF4-FFF2-40B4-BE49-F238E27FC236}">
                  <a16:creationId xmlns:a16="http://schemas.microsoft.com/office/drawing/2014/main" id="{0F3A218A-9DD2-33D4-3BCB-B36C1777E861}"/>
                </a:ext>
              </a:extLst>
            </p:cNvPr>
            <p:cNvSpPr/>
            <p:nvPr/>
          </p:nvSpPr>
          <p:spPr>
            <a:xfrm>
              <a:off x="8284079" y="803889"/>
              <a:ext cx="495091" cy="455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20" name="Text 94">
              <a:extLst>
                <a:ext uri="{FF2B5EF4-FFF2-40B4-BE49-F238E27FC236}">
                  <a16:creationId xmlns:a16="http://schemas.microsoft.com/office/drawing/2014/main" id="{0ED30827-C543-CB27-DD75-7AA66B6E8ED5}"/>
                </a:ext>
              </a:extLst>
            </p:cNvPr>
            <p:cNvSpPr/>
            <p:nvPr/>
          </p:nvSpPr>
          <p:spPr>
            <a:xfrm>
              <a:off x="8853434" y="803889"/>
              <a:ext cx="3143826" cy="455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Operating Model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56595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C05A-6700-2E6B-FC23-A2D57573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CF8F9D-07E6-FF3D-2221-4D8E67995A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3442" y="206791"/>
            <a:ext cx="1154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1F1F"/>
                </a:solidFill>
                <a:latin typeface="Calibri" panose="020F0502020204030204"/>
              </a:rPr>
              <a:t>Oracle fixes identified by Deloitte (2/2)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0F2D954-FD49-7F51-FBB3-A1596F99553A}"/>
              </a:ext>
            </a:extLst>
          </p:cNvPr>
          <p:cNvGraphicFramePr>
            <a:graphicFrameLocks noGrp="1"/>
          </p:cNvGraphicFramePr>
          <p:nvPr/>
        </p:nvGraphicFramePr>
        <p:xfrm>
          <a:off x="118408" y="791566"/>
          <a:ext cx="11955184" cy="5030114"/>
        </p:xfrm>
        <a:graphic>
          <a:graphicData uri="http://schemas.openxmlformats.org/drawingml/2006/table">
            <a:tbl>
              <a:tblPr firstRow="1" bandRow="1"/>
              <a:tblGrid>
                <a:gridCol w="1306705">
                  <a:extLst>
                    <a:ext uri="{9D8B030D-6E8A-4147-A177-3AD203B41FA5}">
                      <a16:colId xmlns:a16="http://schemas.microsoft.com/office/drawing/2014/main" val="3828968158"/>
                    </a:ext>
                  </a:extLst>
                </a:gridCol>
                <a:gridCol w="3995057">
                  <a:extLst>
                    <a:ext uri="{9D8B030D-6E8A-4147-A177-3AD203B41FA5}">
                      <a16:colId xmlns:a16="http://schemas.microsoft.com/office/drawing/2014/main" val="2540550573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733728793"/>
                    </a:ext>
                  </a:extLst>
                </a:gridCol>
                <a:gridCol w="2886965">
                  <a:extLst>
                    <a:ext uri="{9D8B030D-6E8A-4147-A177-3AD203B41FA5}">
                      <a16:colId xmlns:a16="http://schemas.microsoft.com/office/drawing/2014/main" val="1488654543"/>
                    </a:ext>
                  </a:extLst>
                </a:gridCol>
              </a:tblGrid>
              <a:tr h="8519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Process- Sub process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A5A5A5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dirty="0"/>
                        <a:t>Requirement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A5A5A5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dirty="0"/>
                        <a:t>Remarks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A5A5A5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dirty="0"/>
                        <a:t>Business Benefits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A5A5A5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833632"/>
                  </a:ext>
                </a:extLst>
              </a:tr>
              <a:tr h="865085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Manage Requisitions and Orders-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&amp; Issue Purchase Order (PO)</a:t>
                      </a:r>
                      <a:endParaRPr lang="en-US" sz="1100" b="1" kern="0" dirty="0">
                        <a:solidFill>
                          <a:prstClr val="black"/>
                        </a:solidFill>
                        <a:latin typeface="Aptos" panose="020B0004020202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Purchase Orders are created manually by consolidating individual line items from multiple Purchase Requisitions and there is no standardization in creating requisitions i.e. description of items, UOMs, qty etc.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This can be solved by using Agreements and Smart forms. </a:t>
                      </a:r>
                    </a:p>
                    <a:p>
                      <a:r>
                        <a:rPr lang="en-US" sz="1100" b="1" u="sng" dirty="0">
                          <a:latin typeface="Arial"/>
                          <a:cs typeface="Arial"/>
                        </a:rPr>
                        <a:t>Intake management- Agentic AI 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Standard process in creating requisition, less time consumption and less error prone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48702"/>
                  </a:ext>
                </a:extLst>
              </a:tr>
              <a:tr h="757278">
                <a:tc v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Purchases orders are manually downloaded and shared over email to vendors.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It is an Oracle standard functionality where the PO PDF is sent to the Supplier – Need Supplier master data cleansing/</a:t>
                      </a:r>
                      <a:r>
                        <a:rPr lang="en-US" sz="1100" dirty="0" err="1"/>
                        <a:t>updation</a:t>
                      </a:r>
                      <a:r>
                        <a:rPr lang="en-US" sz="1100" dirty="0"/>
                        <a:t>. 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The process is automatic which reduces manual work also email notification is sent without any fail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582795"/>
                  </a:ext>
                </a:extLst>
              </a:tr>
              <a:tr h="75727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Manage Contracts-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Create and Administer </a:t>
                      </a: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23232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Contract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Contracts are signed manually, and changes are done based on email communications from stakeholders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Can be done through Contract Management Module of Oracle and implementing the </a:t>
                      </a:r>
                      <a:r>
                        <a:rPr lang="en-US" sz="1100" dirty="0" err="1"/>
                        <a:t>DocuSign</a:t>
                      </a:r>
                      <a:r>
                        <a:rPr lang="en-US" sz="1100" dirty="0"/>
                        <a:t> for Digital signature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Reduces manual work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70402"/>
                  </a:ext>
                </a:extLst>
              </a:tr>
              <a:tr h="104125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Contracts stored in SharePoint gets renamed and not able to retrieve the latest version of the document.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3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Legora</a:t>
                      </a:r>
                      <a:r>
                        <a:rPr lang="en-US" sz="1100" dirty="0"/>
                        <a:t> could solve this potentially</a:t>
                      </a:r>
                    </a:p>
                    <a:p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Human error like rename/deletion can be avoided 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785954"/>
                  </a:ext>
                </a:extLst>
              </a:tr>
              <a:tr h="7572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0" dirty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Process wide issues</a:t>
                      </a:r>
                      <a:endParaRPr lang="en-US" sz="1100" b="1" kern="0" dirty="0">
                        <a:solidFill>
                          <a:prstClr val="black"/>
                        </a:solidFill>
                        <a:latin typeface="Aptos" panose="020B0004020202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50" marR="6350" marT="635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DOA workflow approval issues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7150" marR="6350" marT="63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Approvals can be configured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Approval workflow is routed to the correct person ensuring compliance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582653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DFB1BA5-C757-3DB6-691F-5E6768D7889F}"/>
              </a:ext>
            </a:extLst>
          </p:cNvPr>
          <p:cNvGrpSpPr/>
          <p:nvPr/>
        </p:nvGrpSpPr>
        <p:grpSpPr>
          <a:xfrm>
            <a:off x="9747116" y="83672"/>
            <a:ext cx="2349163" cy="351602"/>
            <a:chOff x="8284079" y="803889"/>
            <a:chExt cx="3812199" cy="455434"/>
          </a:xfrm>
        </p:grpSpPr>
        <p:sp>
          <p:nvSpPr>
            <p:cNvPr id="4" name="Shape 91">
              <a:extLst>
                <a:ext uri="{FF2B5EF4-FFF2-40B4-BE49-F238E27FC236}">
                  <a16:creationId xmlns:a16="http://schemas.microsoft.com/office/drawing/2014/main" id="{483EBDEE-CA4E-D113-C162-344EB06AECD6}"/>
                </a:ext>
              </a:extLst>
            </p:cNvPr>
            <p:cNvSpPr/>
            <p:nvPr/>
          </p:nvSpPr>
          <p:spPr>
            <a:xfrm>
              <a:off x="8284079" y="803889"/>
              <a:ext cx="3812199" cy="455434"/>
            </a:xfrm>
            <a:prstGeom prst="rect">
              <a:avLst/>
            </a:prstGeom>
            <a:solidFill>
              <a:srgbClr val="C0622B"/>
            </a:solidFill>
            <a:ln w="12700">
              <a:solidFill>
                <a:srgbClr val="C0622B"/>
              </a:solidFill>
              <a:prstDash val="solid"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5" name="Shape 92">
              <a:extLst>
                <a:ext uri="{FF2B5EF4-FFF2-40B4-BE49-F238E27FC236}">
                  <a16:creationId xmlns:a16="http://schemas.microsoft.com/office/drawing/2014/main" id="{02ED9789-DEC8-F7BA-B65F-FE8BEEA14F4B}"/>
                </a:ext>
              </a:extLst>
            </p:cNvPr>
            <p:cNvSpPr/>
            <p:nvPr/>
          </p:nvSpPr>
          <p:spPr>
            <a:xfrm>
              <a:off x="8284079" y="803889"/>
              <a:ext cx="495091" cy="455434"/>
            </a:xfrm>
            <a:prstGeom prst="rect">
              <a:avLst/>
            </a:prstGeom>
            <a:solidFill>
              <a:srgbClr val="1A202C"/>
            </a:solidFill>
            <a:ln w="12700">
              <a:solidFill>
                <a:srgbClr val="1A202C"/>
              </a:solidFill>
              <a:prstDash val="solid"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" name="Text 93">
              <a:extLst>
                <a:ext uri="{FF2B5EF4-FFF2-40B4-BE49-F238E27FC236}">
                  <a16:creationId xmlns:a16="http://schemas.microsoft.com/office/drawing/2014/main" id="{BC158001-7232-1218-044C-81191BC0EFE2}"/>
                </a:ext>
              </a:extLst>
            </p:cNvPr>
            <p:cNvSpPr/>
            <p:nvPr/>
          </p:nvSpPr>
          <p:spPr>
            <a:xfrm>
              <a:off x="8284079" y="803889"/>
              <a:ext cx="495091" cy="455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7" name="Text 94">
              <a:extLst>
                <a:ext uri="{FF2B5EF4-FFF2-40B4-BE49-F238E27FC236}">
                  <a16:creationId xmlns:a16="http://schemas.microsoft.com/office/drawing/2014/main" id="{2A3D3CF1-FDFD-FF2F-8255-868B036A958C}"/>
                </a:ext>
              </a:extLst>
            </p:cNvPr>
            <p:cNvSpPr/>
            <p:nvPr/>
          </p:nvSpPr>
          <p:spPr>
            <a:xfrm>
              <a:off x="8853434" y="803889"/>
              <a:ext cx="3143826" cy="455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Operating Model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8225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1515</Words>
  <Application>Microsoft Office PowerPoint</Application>
  <PresentationFormat>Widescreen</PresentationFormat>
  <Paragraphs>258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Open Sans</vt:lpstr>
      <vt:lpstr>Poppins</vt:lpstr>
      <vt:lpstr>Office Theme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Punjabi</dc:creator>
  <cp:lastModifiedBy>Harsh Punjabi</cp:lastModifiedBy>
  <cp:revision>2</cp:revision>
  <dcterms:created xsi:type="dcterms:W3CDTF">2026-04-23T10:19:47Z</dcterms:created>
  <dcterms:modified xsi:type="dcterms:W3CDTF">2026-04-23T12:19:39Z</dcterms:modified>
</cp:coreProperties>
</file>